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5" r:id="rId4"/>
    <p:sldId id="277" r:id="rId5"/>
    <p:sldId id="280" r:id="rId6"/>
    <p:sldId id="279" r:id="rId7"/>
    <p:sldId id="281" r:id="rId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2101A"/>
                </a:solidFill>
              </a:defRPr>
            </a:pPr>
            <a:r>
              <a:rPr lang="en-US" sz="1600" b="1">
                <a:solidFill>
                  <a:srgbClr val="12101A"/>
                </a:solidFill>
              </a:rPr>
              <a:t>Share of interactions by star rating (%)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v>Positive (≥4)</c:v>
          </c:tx>
          <c:spPr>
            <a:solidFill>
              <a:srgbClr val="6C3BFF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Books</c:v>
              </c:pt>
              <c:pt idx="1">
                <c:v>Movies &amp; TV</c:v>
              </c:pt>
              <c:pt idx="2">
                <c:v>CDs &amp; Vinyl</c:v>
              </c:pt>
              <c:pt idx="3">
                <c:v>Video Games</c:v>
              </c:pt>
              <c:pt idx="4">
                <c:v>Toys &amp; Games</c:v>
              </c:pt>
            </c:strLit>
          </c:cat>
          <c:val>
            <c:numLit>
              <c:formatCode>General</c:formatCode>
              <c:ptCount val="5"/>
              <c:pt idx="0">
                <c:v>84.9</c:v>
              </c:pt>
              <c:pt idx="1">
                <c:v>80.2</c:v>
              </c:pt>
              <c:pt idx="2">
                <c:v>87.3</c:v>
              </c:pt>
              <c:pt idx="3">
                <c:v>74.5</c:v>
              </c:pt>
              <c:pt idx="4">
                <c:v>78.5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66-447E-B133-1A137C78B5F5}"/>
            </c:ext>
          </c:extLst>
        </c:ser>
        <c:ser>
          <c:idx val="1"/>
          <c:order val="1"/>
          <c:tx>
            <c:v>Neutral (3)</c:v>
          </c:tx>
          <c:spPr>
            <a:solidFill>
              <a:srgbClr val="C9C2E0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Books</c:v>
              </c:pt>
              <c:pt idx="1">
                <c:v>Movies &amp; TV</c:v>
              </c:pt>
              <c:pt idx="2">
                <c:v>CDs &amp; Vinyl</c:v>
              </c:pt>
              <c:pt idx="3">
                <c:v>Video Games</c:v>
              </c:pt>
              <c:pt idx="4">
                <c:v>Toys &amp; Games</c:v>
              </c:pt>
            </c:strLit>
          </c:cat>
          <c:val>
            <c:numLit>
              <c:formatCode>General</c:formatCode>
              <c:ptCount val="5"/>
              <c:pt idx="0">
                <c:v>8.5</c:v>
              </c:pt>
              <c:pt idx="1">
                <c:v>10.9</c:v>
              </c:pt>
              <c:pt idx="2">
                <c:v>7.8</c:v>
              </c:pt>
              <c:pt idx="3">
                <c:v>14.3</c:v>
              </c:pt>
              <c:pt idx="4">
                <c:v>11.9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066-447E-B133-1A137C78B5F5}"/>
            </c:ext>
          </c:extLst>
        </c:ser>
        <c:ser>
          <c:idx val="2"/>
          <c:order val="2"/>
          <c:tx>
            <c:v>Negative (1–2)</c:v>
          </c:tx>
          <c:spPr>
            <a:solidFill>
              <a:srgbClr val="FF5C7A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Books</c:v>
              </c:pt>
              <c:pt idx="1">
                <c:v>Movies &amp; TV</c:v>
              </c:pt>
              <c:pt idx="2">
                <c:v>CDs &amp; Vinyl</c:v>
              </c:pt>
              <c:pt idx="3">
                <c:v>Video Games</c:v>
              </c:pt>
              <c:pt idx="4">
                <c:v>Toys &amp; Games</c:v>
              </c:pt>
            </c:strLit>
          </c:cat>
          <c:val>
            <c:numLit>
              <c:formatCode>General</c:formatCode>
              <c:ptCount val="5"/>
              <c:pt idx="0">
                <c:v>6.6</c:v>
              </c:pt>
              <c:pt idx="1">
                <c:v>8.9</c:v>
              </c:pt>
              <c:pt idx="2">
                <c:v>4.9000000000000004</c:v>
              </c:pt>
              <c:pt idx="3">
                <c:v>11.2</c:v>
              </c:pt>
              <c:pt idx="4">
                <c:v>9.6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A066-447E-B133-1A137C78B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12101A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A2540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2101A"/>
                </a:solidFill>
              </a:defRPr>
            </a:pPr>
            <a:r>
              <a:rPr lang="en-US" sz="1600" b="1">
                <a:solidFill>
                  <a:srgbClr val="12101A"/>
                </a:solidFill>
              </a:rPr>
              <a:t>Shared users per source → target pair (5-core)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Shared users</c:v>
          </c:tx>
          <c:invertIfNegative val="1"/>
          <c:dPt>
            <c:idx val="0"/>
            <c:invertIfNegative val="0"/>
            <c:bubble3D val="0"/>
            <c:spPr>
              <a:solidFill>
                <a:srgbClr val="FFB02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300-4593-9C84-A19377C72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B02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300-4593-9C84-A19377C72FD5}"/>
              </c:ext>
            </c:extLst>
          </c:dPt>
          <c:dPt>
            <c:idx val="2"/>
            <c:invertIfNegative val="0"/>
            <c:bubble3D val="0"/>
            <c:spPr>
              <a:solidFill>
                <a:srgbClr val="FFB02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300-4593-9C84-A19377C72FD5}"/>
              </c:ext>
            </c:extLst>
          </c:dPt>
          <c:dPt>
            <c:idx val="3"/>
            <c:invertIfNegative val="0"/>
            <c:bubble3D val="0"/>
            <c:spPr>
              <a:solidFill>
                <a:srgbClr val="6C3B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300-4593-9C84-A19377C72FD5}"/>
              </c:ext>
            </c:extLst>
          </c:dPt>
          <c:dPt>
            <c:idx val="4"/>
            <c:invertIfNegative val="0"/>
            <c:bubble3D val="0"/>
            <c:spPr>
              <a:solidFill>
                <a:srgbClr val="6C3B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5300-4593-9C84-A19377C72FD5}"/>
              </c:ext>
            </c:extLst>
          </c:dPt>
          <c:dPt>
            <c:idx val="5"/>
            <c:invertIfNegative val="0"/>
            <c:bubble3D val="0"/>
            <c:spPr>
              <a:solidFill>
                <a:srgbClr val="6C3B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5300-4593-9C84-A19377C72FD5}"/>
              </c:ext>
            </c:extLst>
          </c:dPt>
          <c:dPt>
            <c:idx val="6"/>
            <c:invertIfNegative val="0"/>
            <c:bubble3D val="0"/>
            <c:spPr>
              <a:solidFill>
                <a:srgbClr val="6C3B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5300-4593-9C84-A19377C72FD5}"/>
              </c:ext>
            </c:extLst>
          </c:dPt>
          <c:dPt>
            <c:idx val="7"/>
            <c:invertIfNegative val="0"/>
            <c:bubble3D val="0"/>
            <c:spPr>
              <a:solidFill>
                <a:srgbClr val="6C3B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5300-4593-9C84-A19377C72FD5}"/>
              </c:ext>
            </c:extLst>
          </c:dPt>
          <c:dLbls>
            <c:numFmt formatCode="#,##0" sourceLinked="0"/>
            <c:spPr>
              <a:noFill/>
            </c:spPr>
            <c:txPr>
              <a:bodyPr/>
              <a:lstStyle/>
              <a:p>
                <a:pPr>
                  <a:defRPr sz="1200" b="1">
                    <a:solidFill>
                      <a:srgbClr val="12101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Books → Video Games</c:v>
              </c:pt>
              <c:pt idx="1">
                <c:v>Toys → Video Games</c:v>
              </c:pt>
              <c:pt idx="2">
                <c:v>Movies → Video Games</c:v>
              </c:pt>
              <c:pt idx="3">
                <c:v>Books → CDs &amp; Vinyl</c:v>
              </c:pt>
              <c:pt idx="4">
                <c:v>Movies → CDs &amp; Vinyl</c:v>
              </c:pt>
              <c:pt idx="5">
                <c:v>Movies → Toys &amp; Games</c:v>
              </c:pt>
              <c:pt idx="6">
                <c:v>Books → Toys &amp; Games</c:v>
              </c:pt>
              <c:pt idx="7">
                <c:v>Books → Movies &amp; TV</c:v>
              </c:pt>
            </c:strLit>
          </c:cat>
          <c:val>
            <c:numLit>
              <c:formatCode>General</c:formatCode>
              <c:ptCount val="8"/>
              <c:pt idx="0">
                <c:v>14478</c:v>
              </c:pt>
              <c:pt idx="1">
                <c:v>17202</c:v>
              </c:pt>
              <c:pt idx="2">
                <c:v>19615</c:v>
              </c:pt>
              <c:pt idx="3">
                <c:v>32027</c:v>
              </c:pt>
              <c:pt idx="4">
                <c:v>38769</c:v>
              </c:pt>
              <c:pt idx="5">
                <c:v>52794</c:v>
              </c:pt>
              <c:pt idx="6">
                <c:v>87225</c:v>
              </c:pt>
              <c:pt idx="7">
                <c:v>127188</c:v>
              </c:pt>
            </c:numLit>
          </c:val>
          <c:extLst>
            <c:ext xmlns:c16="http://schemas.microsoft.com/office/drawing/2014/chart" uri="{C3380CC4-5D6E-409C-BE32-E72D297353CC}">
              <c16:uniqueId val="{00000010-5300-4593-9C84-A19377C72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>
                <a:solidFill>
                  <a:srgbClr val="2A2540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4500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2647-523D-996E-AF00-D1846A2A3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AC6E6-3B7C-B85D-23C8-5788CA1AC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04E6-15BD-4FA5-A665-196F13B7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CE46-E762-55DC-076E-D6ECF058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3A5D-53D7-A02A-9890-F22586BF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512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791A-19E2-7356-9354-018C92E5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8076-DAC2-DF76-3401-171AB4F5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F2A2B-6932-032B-D82A-B8C7C185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8062F-20D3-70D5-0A59-9D60D7BA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5D204-8A60-3104-8E1E-E3C23D03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99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E76D-D677-078F-3BB9-C370B0F2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EBBA4-4661-CAED-B33A-137F36141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C763-D0EE-46D8-5966-AFBC1412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29D4-21DD-6374-C170-9680DEAA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A10C7-9EF2-45FC-0C4F-85B66ABE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98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F86-816D-E2DE-5FE1-1B60C8CE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B60F0-46EB-3762-671E-2ADD67170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E3F86-D6A3-B1B6-2B8D-10B0C7EE7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B3D0-6A34-D826-BFBC-C6B0F869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EB63C-92AE-7FE4-C802-926F3640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990B8-B067-7700-9A99-FC803DF7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67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145E-42A5-248A-DFAB-73DA6CE2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72DEA-0A51-B9BD-F396-4F88F46B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27FC3-CAED-B877-DD10-9F22B2117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EDF34-1A3A-BE0F-BF2D-A1C72EC5B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9B470-FC5F-2C6C-F137-3E2B65AB3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59D09-B345-3C07-AA3D-A48782E5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CB2E7-8324-F45D-A513-07DAF40E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7E70F-6A96-D69F-4B88-B8D5578F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538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B912-FB0E-F388-827B-134DEAA3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BFD9-0257-9765-2431-EA876995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E5F6-C703-E824-9B0F-B01E0A30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93E1B-AEA1-0B48-8A1D-158FA94F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151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C5EB8-5AD6-32A7-18D3-B9D4F912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19414-9C03-C38E-D7C1-BC2A53B5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A9F3E-7205-E1E1-41FA-48F7A73F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211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258F-9D4F-2873-46A8-73B6EFA0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97FC-4749-2322-07DF-16DC75849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B37CC-1FE3-AF72-35BD-EF42A3D4F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F6256-ED39-492D-7405-D775F8E0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B222C-48A5-750E-411C-D259E1D0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CB5B4-58A8-7D71-2B99-E9DB688C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135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49CD-43EB-A3D9-C923-93252D59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DDDF4-91D9-021D-7A44-748D7C5D7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2643-5399-6EA0-4A93-197EAC14D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4FA80-D536-99E5-691B-DE060F3C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4310C-C3F9-9F69-7F6A-EA61F767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B62B8-FC60-2DE5-3E45-4C693C77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652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5B627-7084-D214-14AC-AD60B55C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07142-CA3D-D77B-2885-360430FB4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2C98C-B19A-9E7F-36BD-D0F98319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6DD3-30D3-3462-CFCC-0DF5578A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1C800-6138-AD52-6125-3CB211F3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016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EBA1C-DBB3-6C71-6AC2-8F0A70DE9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4CEFA-C23E-20BB-B0C4-FBAF9B7C3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4F8F-6BBD-DC50-295D-4FC9EEDE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DB3C-B712-9852-47F6-B0DE82E4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D858C-C528-3ECB-FDCE-9AF9A388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96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969BF-EE44-5257-BBCE-9716D3EA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7D8E1-D136-7B49-3DE5-830D4F353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4CA9B-E3EE-1DA6-F367-31AEB7D8E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E7A42-2043-4A4B-A4B3-A0342796380B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3BBFD-AB15-1337-9DFA-96FE129D9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9B725-F74F-BA67-B8E0-6C2963E7F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  <p:sp>
        <p:nvSpPr>
          <p:cNvPr id="990" name="AccentBar"/>
          <p:cNvSpPr/>
          <p:nvPr/>
        </p:nvSpPr>
        <p:spPr>
          <a:xfrm>
            <a:off x="0" y="0"/>
            <a:ext cx="80000" cy="6858000"/>
          </a:xfrm>
          <a:prstGeom prst="rect">
            <a:avLst/>
          </a:prstGeom>
          <a:solidFill>
            <a:srgbClr val="6C3BFF"/>
          </a:solidFill>
        </p:spPr>
        <p:txBody>
          <a:bodyPr/>
          <a:lstStyle/>
          <a:p>
            <a:endParaRPr/>
          </a:p>
        </p:txBody>
      </p:sp>
      <p:sp>
        <p:nvSpPr>
          <p:cNvPr id="991" name="CornerBlock"/>
          <p:cNvSpPr/>
          <p:nvPr/>
        </p:nvSpPr>
        <p:spPr>
          <a:xfrm>
            <a:off x="11280000" y="6500000"/>
            <a:ext cx="912000" cy="358000"/>
          </a:xfrm>
          <a:prstGeom prst="rect">
            <a:avLst/>
          </a:prstGeom>
          <a:solidFill>
            <a:srgbClr val="FF5C7A"/>
          </a:solid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291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210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A25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3C14-80D9-38D3-4063-96C409299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5400" b="1" dirty="0"/>
              <a:t>Cross-Domain</a:t>
            </a:r>
          </a:p>
          <a:p>
            <a:pPr algn="l"/>
            <a:r>
              <a:rPr lang="en-US" sz="5400" b="1" dirty="0">
                <a:solidFill>
                  <a:schemeClr val="accent1"/>
                </a:solidFill>
              </a:rPr>
              <a:t>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88198-F5B7-F3C4-2BEF-5B6809C7B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000" b="1" dirty="0">
                <a:solidFill>
                  <a:schemeClr val="accent2"/>
                </a:solidFill>
              </a:rPr>
              <a:t>CRISP-DM Phase 2–3 · Data Understanding &amp; Data Preparation</a:t>
            </a:r>
          </a:p>
          <a:p>
            <a:pPr algn="l">
              <a:spcBef>
                <a:spcPts val="600"/>
              </a:spcBef>
            </a:pPr>
            <a:r>
              <a:rPr lang="en-US" sz="1500" dirty="0">
                <a:solidFill>
                  <a:schemeClr val="tx2"/>
                </a:solidFill>
              </a:rPr>
              <a:t>Group 12  ·  Ori Sinvani  ·  Yoav Silman  ·  Tamir Spivak  ·  Nehoray Chalfon</a:t>
            </a:r>
          </a:p>
        </p:txBody>
      </p:sp>
    </p:spTree>
    <p:extLst>
      <p:ext uri="{BB962C8B-B14F-4D97-AF65-F5344CB8AC3E}">
        <p14:creationId xmlns:p14="http://schemas.microsoft.com/office/powerpoint/2010/main" val="90204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7DD8-CCE2-72B1-3B36-0C1F0B48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cold-start problem across verticals</a:t>
            </a:r>
            <a:endParaRPr lang="en-IL"/>
          </a:p>
        </p:txBody>
      </p:sp>
      <p:sp>
        <p:nvSpPr>
          <p:cNvPr id="201" name="Intro"/>
          <p:cNvSpPr txBox="1"/>
          <p:nvPr/>
        </p:nvSpPr>
        <p:spPr>
          <a:xfrm>
            <a:off x="1524000" y="1778000"/>
            <a:ext cx="9144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A multi-vertical platform knows a user in one domain but has near-zero signal on them in another. Item IDs don’t overlap — so a recommender trained on one vertical can’t reuse what it learned.</a:t>
            </a:r>
          </a:p>
        </p:txBody>
      </p:sp>
      <p:sp>
        <p:nvSpPr>
          <p:cNvPr id="202" name="Card202"/>
          <p:cNvSpPr/>
          <p:nvPr/>
        </p:nvSpPr>
        <p:spPr>
          <a:xfrm>
            <a:off x="1524000" y="2667000"/>
            <a:ext cx="2717800" cy="3175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H"/>
          <p:cNvSpPr txBox="1"/>
          <p:nvPr/>
        </p:nvSpPr>
        <p:spPr>
          <a:xfrm>
            <a:off x="1752600" y="3657600"/>
            <a:ext cx="22606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700" b="1" dirty="0">
                <a:solidFill>
                  <a:srgbClr val="6C3BFF"/>
                </a:solidFill>
              </a:rPr>
              <a:t>The problem</a:t>
            </a:r>
          </a:p>
        </p:txBody>
      </p:sp>
      <p:sp>
        <p:nvSpPr>
          <p:cNvPr id="204" name="B"/>
          <p:cNvSpPr txBox="1"/>
          <p:nvPr/>
        </p:nvSpPr>
        <p:spPr>
          <a:xfrm>
            <a:off x="1752600" y="4089400"/>
            <a:ext cx="22606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250" dirty="0">
                <a:solidFill>
                  <a:srgbClr val="2A2540"/>
                </a:solidFill>
              </a:rPr>
              <a:t>Books-heavy users land on the Movies or Music page and see a generic “popular this week” rail — identical for everyone, ignoring everything we already know.</a:t>
            </a:r>
          </a:p>
        </p:txBody>
      </p:sp>
      <p:sp>
        <p:nvSpPr>
          <p:cNvPr id="205" name="Card205"/>
          <p:cNvSpPr/>
          <p:nvPr/>
        </p:nvSpPr>
        <p:spPr>
          <a:xfrm>
            <a:off x="4737100" y="2667000"/>
            <a:ext cx="2717800" cy="3175000"/>
          </a:xfrm>
          <a:prstGeom prst="roundRect">
            <a:avLst>
              <a:gd name="adj" fmla="val 6000"/>
            </a:avLst>
          </a:prstGeom>
          <a:solidFill>
            <a:srgbClr val="FDEA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H"/>
          <p:cNvSpPr txBox="1"/>
          <p:nvPr/>
        </p:nvSpPr>
        <p:spPr>
          <a:xfrm>
            <a:off x="4965700" y="3657600"/>
            <a:ext cx="22606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700" b="1" dirty="0">
                <a:solidFill>
                  <a:srgbClr val="FF5C7A"/>
                </a:solidFill>
              </a:rPr>
              <a:t>The bridge</a:t>
            </a:r>
          </a:p>
        </p:txBody>
      </p:sp>
      <p:sp>
        <p:nvSpPr>
          <p:cNvPr id="207" name="B"/>
          <p:cNvSpPr txBox="1"/>
          <p:nvPr/>
        </p:nvSpPr>
        <p:spPr>
          <a:xfrm>
            <a:off x="4965700" y="4089400"/>
            <a:ext cx="22606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250" dirty="0">
                <a:solidFill>
                  <a:srgbClr val="2A2540"/>
                </a:solidFill>
              </a:rPr>
              <a:t>What carries across is the user. Their taste lives in item metadata — categories, titles, descriptions — the shared signal we use to connect verticals.</a:t>
            </a:r>
          </a:p>
        </p:txBody>
      </p:sp>
      <p:sp>
        <p:nvSpPr>
          <p:cNvPr id="208" name="Card208"/>
          <p:cNvSpPr/>
          <p:nvPr/>
        </p:nvSpPr>
        <p:spPr>
          <a:xfrm>
            <a:off x="7950200" y="2667000"/>
            <a:ext cx="2717800" cy="31750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H"/>
          <p:cNvSpPr txBox="1"/>
          <p:nvPr/>
        </p:nvSpPr>
        <p:spPr>
          <a:xfrm>
            <a:off x="8178800" y="3657600"/>
            <a:ext cx="22606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700" b="1" dirty="0">
                <a:solidFill>
                  <a:srgbClr val="00C2A8"/>
                </a:solidFill>
              </a:rPr>
              <a:t>The goal</a:t>
            </a:r>
          </a:p>
        </p:txBody>
      </p:sp>
      <p:sp>
        <p:nvSpPr>
          <p:cNvPr id="210" name="B"/>
          <p:cNvSpPr txBox="1"/>
          <p:nvPr/>
        </p:nvSpPr>
        <p:spPr>
          <a:xfrm>
            <a:off x="8178800" y="4089400"/>
            <a:ext cx="22606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250" dirty="0">
                <a:solidFill>
                  <a:srgbClr val="2A2540"/>
                </a:solidFill>
              </a:rPr>
              <a:t>Personalize the cold cross-vertical rails using the user’s history elsewhere. Higher CTR, longer sessions, more multi-vertical users.</a:t>
            </a:r>
          </a:p>
        </p:txBody>
      </p:sp>
      <p:pic>
        <p:nvPicPr>
          <p:cNvPr id="211" name="Graphic 2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52600" y="2895600"/>
            <a:ext cx="508000" cy="508000"/>
          </a:xfrm>
          <a:prstGeom prst="rect">
            <a:avLst/>
          </a:prstGeom>
        </p:spPr>
      </p:pic>
      <p:pic>
        <p:nvPicPr>
          <p:cNvPr id="212" name="Graphic 2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700" y="2895600"/>
            <a:ext cx="508000" cy="508000"/>
          </a:xfrm>
          <a:prstGeom prst="rect">
            <a:avLst/>
          </a:prstGeom>
        </p:spPr>
      </p:pic>
      <p:pic>
        <p:nvPicPr>
          <p:cNvPr id="213" name="Graphic 2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2895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6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D643-34C3-A319-1153-2D2D5A02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data: Amazon Reviews 2023</a:t>
            </a:r>
            <a:endParaRPr lang="en-IL"/>
          </a:p>
        </p:txBody>
      </p:sp>
      <p:sp>
        <p:nvSpPr>
          <p:cNvPr id="301" name="R301"/>
          <p:cNvSpPr/>
          <p:nvPr/>
        </p:nvSpPr>
        <p:spPr>
          <a:xfrm>
            <a:off x="1524000" y="1905000"/>
            <a:ext cx="76200" cy="812800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1803400" y="1930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6C3BFF"/>
                </a:solidFill>
              </a:rPr>
              <a:t>71.7M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1803400" y="2413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interactions</a:t>
            </a:r>
          </a:p>
        </p:txBody>
      </p:sp>
      <p:sp>
        <p:nvSpPr>
          <p:cNvPr id="304" name="R304"/>
          <p:cNvSpPr/>
          <p:nvPr/>
        </p:nvSpPr>
        <p:spPr>
          <a:xfrm>
            <a:off x="1524000" y="2921000"/>
            <a:ext cx="76200" cy="8128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1803400" y="2946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F5C7A"/>
                </a:solidFill>
              </a:rPr>
              <a:t>6.9M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1803400" y="3429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items across 5 catalogs</a:t>
            </a:r>
          </a:p>
        </p:txBody>
      </p:sp>
      <p:sp>
        <p:nvSpPr>
          <p:cNvPr id="307" name="R307"/>
          <p:cNvSpPr/>
          <p:nvPr/>
        </p:nvSpPr>
        <p:spPr>
          <a:xfrm>
            <a:off x="1524000" y="3937000"/>
            <a:ext cx="76200" cy="8128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T308"/>
          <p:cNvSpPr txBox="1"/>
          <p:nvPr/>
        </p:nvSpPr>
        <p:spPr>
          <a:xfrm>
            <a:off x="1803400" y="3962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00C2A8"/>
                </a:solidFill>
              </a:rPr>
              <a:t>5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1803400" y="4445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entertainment verticals</a:t>
            </a:r>
          </a:p>
        </p:txBody>
      </p:sp>
      <p:sp>
        <p:nvSpPr>
          <p:cNvPr id="310" name="R310"/>
          <p:cNvSpPr/>
          <p:nvPr/>
        </p:nvSpPr>
        <p:spPr>
          <a:xfrm>
            <a:off x="1524000" y="4953000"/>
            <a:ext cx="76200" cy="8128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T311"/>
          <p:cNvSpPr txBox="1"/>
          <p:nvPr/>
        </p:nvSpPr>
        <p:spPr>
          <a:xfrm>
            <a:off x="1803400" y="4978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FB020"/>
                </a:solidFill>
              </a:rPr>
              <a:t>22.6 GB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1803400" y="5461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raw, pulled via HuggingFace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5969000" y="1905000"/>
            <a:ext cx="4699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 dirty="0">
                <a:solidFill>
                  <a:srgbClr val="6C3BFF"/>
                </a:solidFill>
              </a:rPr>
              <a:t>WHAT WE PULL &amp; WHY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5969000" y="2336800"/>
            <a:ext cx="4699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Interactions (0-core)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5969000" y="26416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user, item, rating, timestamp — unfiltered, so we run the 5-core filter ourselves on a pinned snapshot.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5969000" y="3378200"/>
            <a:ext cx="4699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Item metadata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5969000" y="36830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title, description, categories — the cross-vertical bridge, encoded by all-MiniLM-L6-v2 (384-d).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5969000" y="4419600"/>
            <a:ext cx="4699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Shared users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5969000" y="47244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recovered by intersecting user columns — the same ID denotes the same person across verticals.</a:t>
            </a:r>
          </a:p>
        </p:txBody>
      </p:sp>
      <p:sp>
        <p:nvSpPr>
          <p:cNvPr id="320" name="R320"/>
          <p:cNvSpPr/>
          <p:nvPr/>
        </p:nvSpPr>
        <p:spPr>
          <a:xfrm>
            <a:off x="5969000" y="5537200"/>
            <a:ext cx="4699000" cy="711200"/>
          </a:xfrm>
          <a:prstGeom prst="roundRect">
            <a:avLst>
              <a:gd name="adj" fmla="val 8000"/>
            </a:avLst>
          </a:prstGeom>
          <a:solidFill>
            <a:srgbClr val="FDEA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321"/>
          <p:cNvSpPr txBox="1"/>
          <p:nvPr/>
        </p:nvSpPr>
        <p:spPr>
          <a:xfrm>
            <a:off x="6172200" y="5537200"/>
            <a:ext cx="4368800" cy="7112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r>
              <a:rPr lang="en-US" sz="1300" dirty="0">
                <a:solidFill>
                  <a:srgbClr val="C2334E"/>
                </a:solidFill>
              </a:rPr>
              <a:t>Dropped: full review text, pre-built splits, images/price/subtitle, bought_together (100% null).</a:t>
            </a:r>
          </a:p>
        </p:txBody>
      </p:sp>
    </p:spTree>
    <p:extLst>
      <p:ext uri="{BB962C8B-B14F-4D97-AF65-F5344CB8AC3E}">
        <p14:creationId xmlns:p14="http://schemas.microsoft.com/office/powerpoint/2010/main" val="278997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9862-7D5F-9182-4176-9C822DD1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 · Ratings skew positive</a:t>
            </a:r>
            <a:endParaRPr lang="en-IL"/>
          </a:p>
        </p:txBody>
      </p:sp>
      <p:graphicFrame>
        <p:nvGraphicFramePr>
          <p:cNvPr id="401" name="RatingChart"/>
          <p:cNvGraphicFramePr/>
          <p:nvPr/>
        </p:nvGraphicFramePr>
        <p:xfrm>
          <a:off x="1524000" y="1905000"/>
          <a:ext cx="6731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80" name="R380"/>
          <p:cNvSpPr/>
          <p:nvPr/>
        </p:nvSpPr>
        <p:spPr>
          <a:xfrm>
            <a:off x="8534400" y="2095500"/>
            <a:ext cx="2133600" cy="4064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1" name="T381"/>
          <p:cNvSpPr txBox="1"/>
          <p:nvPr/>
        </p:nvSpPr>
        <p:spPr>
          <a:xfrm>
            <a:off x="8737600" y="2311400"/>
            <a:ext cx="1752600" cy="38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6C3BFF"/>
                </a:solidFill>
              </a:rPr>
              <a:t>Takeaway</a:t>
            </a:r>
          </a:p>
          <a:p>
            <a:pPr>
              <a:spcBef>
                <a:spcPts val="600"/>
              </a:spcBef>
            </a:pPr>
            <a:r>
              <a:rPr lang="en-US" sz="1250" dirty="0">
                <a:solidFill>
                  <a:srgbClr val="2A2540"/>
                </a:solidFill>
              </a:rPr>
              <a:t>74.5% (Video Games) to 87.3% (CDs &amp; Vinyl) of ratings are ≥4. This skew is why we treat ≥4 as a positive signal — and why explicit 1–2 negatives are scarce, motivating negative sampling.</a:t>
            </a:r>
          </a:p>
        </p:txBody>
      </p:sp>
    </p:spTree>
    <p:extLst>
      <p:ext uri="{BB962C8B-B14F-4D97-AF65-F5344CB8AC3E}">
        <p14:creationId xmlns:p14="http://schemas.microsoft.com/office/powerpoint/2010/main" val="12282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6782-9DD2-EF92-DBBD-9C6F315B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 · Shared-user overlap gates the pairs</a:t>
            </a:r>
            <a:endParaRPr lang="en-IL"/>
          </a:p>
        </p:txBody>
      </p:sp>
      <p:graphicFrame>
        <p:nvGraphicFramePr>
          <p:cNvPr id="421" name="OverlapChart"/>
          <p:cNvGraphicFramePr/>
          <p:nvPr/>
        </p:nvGraphicFramePr>
        <p:xfrm>
          <a:off x="1117600" y="1905000"/>
          <a:ext cx="6858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0" name="R460"/>
          <p:cNvSpPr/>
          <p:nvPr/>
        </p:nvSpPr>
        <p:spPr>
          <a:xfrm>
            <a:off x="8483600" y="2032000"/>
            <a:ext cx="2184400" cy="4191000"/>
          </a:xfrm>
          <a:prstGeom prst="roundRect">
            <a:avLst>
              <a:gd name="adj" fmla="val 6000"/>
            </a:avLst>
          </a:prstGeom>
          <a:solidFill>
            <a:srgbClr val="F4F2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1" name="T461"/>
          <p:cNvSpPr txBox="1"/>
          <p:nvPr/>
        </p:nvSpPr>
        <p:spPr>
          <a:xfrm>
            <a:off x="8686800" y="2235200"/>
            <a:ext cx="1803400" cy="38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6C3BFF"/>
                </a:solidFill>
              </a:rPr>
              <a:t>The gate</a:t>
            </a:r>
          </a:p>
          <a:p>
            <a:pPr>
              <a:spcBef>
                <a:spcPts val="500"/>
              </a:spcBef>
            </a:pPr>
            <a:r>
              <a:rPr lang="en-US" sz="1200" dirty="0">
                <a:solidFill>
                  <a:srgbClr val="2A2540"/>
                </a:solidFill>
              </a:rPr>
              <a:t>Shared users supervise the mapping. We set a ~10k floor: 8 of 10 pairs clear it.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solidFill>
                  <a:srgbClr val="FFB020"/>
                </a:solidFill>
              </a:rPr>
              <a:t>Amber</a:t>
            </a:r>
            <a:r>
              <a:rPr lang="en-US" sz="1200" dirty="0">
                <a:solidFill>
                  <a:srgbClr val="2A2540"/>
                </a:solidFill>
              </a:rPr>
              <a:t> = borderline (12–20k, just above the floor), read with caution.</a:t>
            </a:r>
          </a:p>
        </p:txBody>
      </p:sp>
    </p:spTree>
    <p:extLst>
      <p:ext uri="{BB962C8B-B14F-4D97-AF65-F5344CB8AC3E}">
        <p14:creationId xmlns:p14="http://schemas.microsoft.com/office/powerpoint/2010/main" val="162981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6D9C-2160-05A6-0EF9-91BFC7CD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→ cleaning actions</a:t>
            </a:r>
            <a:endParaRPr lang="en-IL"/>
          </a:p>
        </p:txBody>
      </p:sp>
      <p:sp>
        <p:nvSpPr>
          <p:cNvPr id="401" name="T401"/>
          <p:cNvSpPr txBox="1"/>
          <p:nvPr/>
        </p:nvSpPr>
        <p:spPr>
          <a:xfrm>
            <a:off x="1524000" y="1905000"/>
            <a:ext cx="45085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500" b="1" dirty="0">
                <a:solidFill>
                  <a:srgbClr val="FF5C7A"/>
                </a:solidFill>
              </a:rPr>
              <a:t>ISSUE FOUND 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6858000" y="19050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500" b="1" dirty="0">
                <a:solidFill>
                  <a:srgbClr val="00C2A8"/>
                </a:solidFill>
              </a:rPr>
              <a:t>CLEANING ACTION </a:t>
            </a:r>
          </a:p>
        </p:txBody>
      </p:sp>
      <p:sp>
        <p:nvSpPr>
          <p:cNvPr id="403" name="R403"/>
          <p:cNvSpPr/>
          <p:nvPr/>
        </p:nvSpPr>
        <p:spPr>
          <a:xfrm>
            <a:off x="1524000" y="23368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A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R404"/>
          <p:cNvSpPr/>
          <p:nvPr/>
        </p:nvSpPr>
        <p:spPr>
          <a:xfrm>
            <a:off x="1524000" y="23368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T405"/>
          <p:cNvSpPr txBox="1"/>
          <p:nvPr/>
        </p:nvSpPr>
        <p:spPr>
          <a:xfrm>
            <a:off x="1752600" y="24638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Missing item text</a:t>
            </a:r>
          </a:p>
        </p:txBody>
      </p:sp>
      <p:sp>
        <p:nvSpPr>
          <p:cNvPr id="406" name="T406"/>
          <p:cNvSpPr txBox="1"/>
          <p:nvPr/>
        </p:nvSpPr>
        <p:spPr>
          <a:xfrm>
            <a:off x="1752600" y="27559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endParaRPr/>
          </a:p>
        </p:txBody>
      </p:sp>
      <p:sp>
        <p:nvSpPr>
          <p:cNvPr id="407" name="T407"/>
          <p:cNvSpPr txBox="1"/>
          <p:nvPr/>
        </p:nvSpPr>
        <p:spPr>
          <a:xfrm>
            <a:off x="6070600" y="26289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08" name="R408"/>
          <p:cNvSpPr/>
          <p:nvPr/>
        </p:nvSpPr>
        <p:spPr>
          <a:xfrm>
            <a:off x="6858000" y="23368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T409"/>
          <p:cNvSpPr txBox="1"/>
          <p:nvPr/>
        </p:nvSpPr>
        <p:spPr>
          <a:xfrm>
            <a:off x="7061200" y="24638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50" dirty="0">
                <a:solidFill>
                  <a:srgbClr val="0A6B5C"/>
                </a:solidFill>
              </a:rPr>
              <a:t>Fall back to title + store + details; no-text items get a shared placeholder vector — never dropped.</a:t>
            </a:r>
          </a:p>
        </p:txBody>
      </p:sp>
      <p:sp>
        <p:nvSpPr>
          <p:cNvPr id="410" name="R410"/>
          <p:cNvSpPr/>
          <p:nvPr/>
        </p:nvSpPr>
        <p:spPr>
          <a:xfrm>
            <a:off x="1524000" y="34290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A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R411"/>
          <p:cNvSpPr/>
          <p:nvPr/>
        </p:nvSpPr>
        <p:spPr>
          <a:xfrm>
            <a:off x="1524000" y="34290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T412"/>
          <p:cNvSpPr txBox="1"/>
          <p:nvPr/>
        </p:nvSpPr>
        <p:spPr>
          <a:xfrm>
            <a:off x="1752600" y="3556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Out-of-range ratings</a:t>
            </a:r>
          </a:p>
        </p:txBody>
      </p:sp>
      <p:sp>
        <p:nvSpPr>
          <p:cNvPr id="413" name="T413"/>
          <p:cNvSpPr txBox="1"/>
          <p:nvPr/>
        </p:nvSpPr>
        <p:spPr>
          <a:xfrm>
            <a:off x="1752600" y="38481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00" dirty="0">
                <a:solidFill>
                  <a:srgbClr val="2A2540"/>
                </a:solidFill>
              </a:rPr>
              <a:t>4 Books rows carry a 0 (0.00001%).</a:t>
            </a:r>
          </a:p>
        </p:txBody>
      </p:sp>
      <p:sp>
        <p:nvSpPr>
          <p:cNvPr id="414" name="T414"/>
          <p:cNvSpPr txBox="1"/>
          <p:nvPr/>
        </p:nvSpPr>
        <p:spPr>
          <a:xfrm>
            <a:off x="6070600" y="37211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15" name="R415"/>
          <p:cNvSpPr/>
          <p:nvPr/>
        </p:nvSpPr>
        <p:spPr>
          <a:xfrm>
            <a:off x="6858000" y="34290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6" name="T416"/>
          <p:cNvSpPr txBox="1"/>
          <p:nvPr/>
        </p:nvSpPr>
        <p:spPr>
          <a:xfrm>
            <a:off x="7061200" y="35560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50" dirty="0">
                <a:solidFill>
                  <a:srgbClr val="0A6B5C"/>
                </a:solidFill>
              </a:rPr>
              <a:t>Drop the 4 rows. Neutral 3-stars removed separately as a labelling choice.</a:t>
            </a:r>
          </a:p>
        </p:txBody>
      </p:sp>
      <p:sp>
        <p:nvSpPr>
          <p:cNvPr id="417" name="R417"/>
          <p:cNvSpPr/>
          <p:nvPr/>
        </p:nvSpPr>
        <p:spPr>
          <a:xfrm>
            <a:off x="1524000" y="45212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A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8" name="R418"/>
          <p:cNvSpPr/>
          <p:nvPr/>
        </p:nvSpPr>
        <p:spPr>
          <a:xfrm>
            <a:off x="1524000" y="45212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T419"/>
          <p:cNvSpPr txBox="1"/>
          <p:nvPr/>
        </p:nvSpPr>
        <p:spPr>
          <a:xfrm>
            <a:off x="1752600" y="464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bought_together null</a:t>
            </a:r>
          </a:p>
        </p:txBody>
      </p:sp>
      <p:sp>
        <p:nvSpPr>
          <p:cNvPr id="420" name="T420"/>
          <p:cNvSpPr txBox="1"/>
          <p:nvPr/>
        </p:nvSpPr>
        <p:spPr>
          <a:xfrm>
            <a:off x="1752600" y="49403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00" dirty="0">
                <a:solidFill>
                  <a:srgbClr val="2A2540"/>
                </a:solidFill>
              </a:rPr>
              <a:t>100% null across all 6.9M items.</a:t>
            </a:r>
          </a:p>
        </p:txBody>
      </p:sp>
      <p:sp>
        <p:nvSpPr>
          <p:cNvPr id="421" name="T421"/>
          <p:cNvSpPr txBox="1"/>
          <p:nvPr/>
        </p:nvSpPr>
        <p:spPr>
          <a:xfrm>
            <a:off x="6070600" y="48133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22" name="R422"/>
          <p:cNvSpPr/>
          <p:nvPr/>
        </p:nvSpPr>
        <p:spPr>
          <a:xfrm>
            <a:off x="6858000" y="45212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3" name="T423"/>
          <p:cNvSpPr txBox="1"/>
          <p:nvPr/>
        </p:nvSpPr>
        <p:spPr>
          <a:xfrm>
            <a:off x="7061200" y="46482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50" dirty="0">
                <a:solidFill>
                  <a:srgbClr val="0A6B5C"/>
                </a:solidFill>
              </a:rPr>
              <a:t>Dropped at ingest — carries no signal.</a:t>
            </a:r>
          </a:p>
        </p:txBody>
      </p:sp>
      <p:sp>
        <p:nvSpPr>
          <p:cNvPr id="424" name="R424"/>
          <p:cNvSpPr/>
          <p:nvPr/>
        </p:nvSpPr>
        <p:spPr>
          <a:xfrm>
            <a:off x="1524000" y="56134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A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5" name="R425"/>
          <p:cNvSpPr/>
          <p:nvPr/>
        </p:nvSpPr>
        <p:spPr>
          <a:xfrm>
            <a:off x="1524000" y="56134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6" name="T426"/>
          <p:cNvSpPr txBox="1"/>
          <p:nvPr/>
        </p:nvSpPr>
        <p:spPr>
          <a:xfrm>
            <a:off x="1752600" y="5740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Label inconsistency</a:t>
            </a:r>
          </a:p>
        </p:txBody>
      </p:sp>
      <p:sp>
        <p:nvSpPr>
          <p:cNvPr id="427" name="T427"/>
          <p:cNvSpPr txBox="1"/>
          <p:nvPr/>
        </p:nvSpPr>
        <p:spPr>
          <a:xfrm>
            <a:off x="1752600" y="60325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00" dirty="0">
                <a:solidFill>
                  <a:srgbClr val="2A2540"/>
                </a:solidFill>
              </a:rPr>
              <a:t>main_category = live store label, not the partition; casing variants in store/categories.</a:t>
            </a:r>
          </a:p>
        </p:txBody>
      </p:sp>
      <p:sp>
        <p:nvSpPr>
          <p:cNvPr id="428" name="T428"/>
          <p:cNvSpPr txBox="1"/>
          <p:nvPr/>
        </p:nvSpPr>
        <p:spPr>
          <a:xfrm>
            <a:off x="6070600" y="59055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29" name="R429"/>
          <p:cNvSpPr/>
          <p:nvPr/>
        </p:nvSpPr>
        <p:spPr>
          <a:xfrm>
            <a:off x="6858000" y="56134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0" name="T430"/>
          <p:cNvSpPr txBox="1"/>
          <p:nvPr/>
        </p:nvSpPr>
        <p:spPr>
          <a:xfrm>
            <a:off x="7061200" y="57404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250" dirty="0">
                <a:solidFill>
                  <a:srgbClr val="0A6B5C"/>
                </a:solidFill>
              </a:rPr>
              <a:t>Stamp source_vertical from file-of-origin; lower-case &amp; whitespace-collapse categoricals.</a:t>
            </a:r>
          </a:p>
        </p:txBody>
      </p:sp>
    </p:spTree>
    <p:extLst>
      <p:ext uri="{BB962C8B-B14F-4D97-AF65-F5344CB8AC3E}">
        <p14:creationId xmlns:p14="http://schemas.microsoft.com/office/powerpoint/2010/main" val="30767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ADC1-0E06-F17E-9A0B-DC64D22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solution: EMCDR shared latent space</a:t>
            </a:r>
            <a:endParaRPr lang="en-IL"/>
          </a:p>
        </p:txBody>
      </p:sp>
      <p:sp>
        <p:nvSpPr>
          <p:cNvPr id="501" name="C501"/>
          <p:cNvSpPr/>
          <p:nvPr/>
        </p:nvSpPr>
        <p:spPr>
          <a:xfrm>
            <a:off x="1524000" y="2133600"/>
            <a:ext cx="2946400" cy="1879600"/>
          </a:xfrm>
          <a:prstGeom prst="roundRect">
            <a:avLst>
              <a:gd name="adj" fmla="val 7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B502"/>
          <p:cNvSpPr/>
          <p:nvPr/>
        </p:nvSpPr>
        <p:spPr>
          <a:xfrm>
            <a:off x="1727200" y="2336800"/>
            <a:ext cx="431800" cy="431800"/>
          </a:xfrm>
          <a:prstGeom prst="ellipse">
            <a:avLst/>
          </a:prstGeom>
          <a:solidFill>
            <a:srgbClr val="6C3B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1727200" y="2895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50" b="1" dirty="0">
                <a:solidFill>
                  <a:srgbClr val="12101A"/>
                </a:solidFill>
              </a:rPr>
              <a:t>Source embeddings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727200" y="32512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</a:pPr>
            <a:r>
              <a:rPr lang="en-US" sz="1250" dirty="0">
                <a:solidFill>
                  <a:srgbClr val="2A2540"/>
                </a:solidFill>
              </a:rPr>
              <a:t>Learn user &amp; item vectors on the source vertical, where the user has history.</a:t>
            </a:r>
          </a:p>
        </p:txBody>
      </p:sp>
      <p:sp>
        <p:nvSpPr>
          <p:cNvPr id="505" name="C505"/>
          <p:cNvSpPr/>
          <p:nvPr/>
        </p:nvSpPr>
        <p:spPr>
          <a:xfrm>
            <a:off x="5130800" y="2133600"/>
            <a:ext cx="2946400" cy="1879600"/>
          </a:xfrm>
          <a:prstGeom prst="roundRect">
            <a:avLst>
              <a:gd name="adj" fmla="val 7000"/>
            </a:avLst>
          </a:prstGeom>
          <a:solidFill>
            <a:srgbClr val="FDEA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B506"/>
          <p:cNvSpPr/>
          <p:nvPr/>
        </p:nvSpPr>
        <p:spPr>
          <a:xfrm>
            <a:off x="5334000" y="2336800"/>
            <a:ext cx="431800" cy="431800"/>
          </a:xfrm>
          <a:prstGeom prst="ellipse">
            <a:avLst/>
          </a:prstGeom>
          <a:solidFill>
            <a:srgbClr val="E0344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7" name="T507"/>
          <p:cNvSpPr txBox="1"/>
          <p:nvPr/>
        </p:nvSpPr>
        <p:spPr>
          <a:xfrm>
            <a:off x="5334000" y="2895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50" b="1" dirty="0">
                <a:solidFill>
                  <a:srgbClr val="12101A"/>
                </a:solidFill>
              </a:rPr>
              <a:t>Target embeddings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334000" y="32512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</a:pPr>
            <a:r>
              <a:rPr lang="en-US" sz="1250" dirty="0">
                <a:solidFill>
                  <a:srgbClr val="2A2540"/>
                </a:solidFill>
              </a:rPr>
              <a:t>Learn user &amp; item vectors on the target vertical, where we want to recommend.</a:t>
            </a:r>
          </a:p>
        </p:txBody>
      </p:sp>
      <p:sp>
        <p:nvSpPr>
          <p:cNvPr id="509" name="C509"/>
          <p:cNvSpPr/>
          <p:nvPr/>
        </p:nvSpPr>
        <p:spPr>
          <a:xfrm>
            <a:off x="8737600" y="2133600"/>
            <a:ext cx="2946400" cy="1879600"/>
          </a:xfrm>
          <a:prstGeom prst="roundRect">
            <a:avLst>
              <a:gd name="adj" fmla="val 7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B510"/>
          <p:cNvSpPr/>
          <p:nvPr/>
        </p:nvSpPr>
        <p:spPr>
          <a:xfrm>
            <a:off x="8940800" y="2336800"/>
            <a:ext cx="431800" cy="431800"/>
          </a:xfrm>
          <a:prstGeom prst="ellipse">
            <a:avLst/>
          </a:prstGeom>
          <a:solidFill>
            <a:srgbClr val="067A6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1" name="T511"/>
          <p:cNvSpPr txBox="1"/>
          <p:nvPr/>
        </p:nvSpPr>
        <p:spPr>
          <a:xfrm>
            <a:off x="8940800" y="2895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50" b="1" dirty="0">
                <a:solidFill>
                  <a:srgbClr val="12101A"/>
                </a:solidFill>
              </a:rPr>
              <a:t>Mapping function</a:t>
            </a:r>
          </a:p>
        </p:txBody>
      </p:sp>
      <p:sp>
        <p:nvSpPr>
          <p:cNvPr id="512" name="T512"/>
          <p:cNvSpPr txBox="1"/>
          <p:nvPr/>
        </p:nvSpPr>
        <p:spPr>
          <a:xfrm>
            <a:off x="8940800" y="32512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</a:pPr>
            <a:r>
              <a:rPr lang="en-US" sz="1250" dirty="0">
                <a:solidFill>
                  <a:srgbClr val="2A2540"/>
                </a:solidFill>
              </a:rPr>
              <a:t>Learns to map a source-user vector to its target-vector. Trained on shared users.</a:t>
            </a:r>
          </a:p>
        </p:txBody>
      </p:sp>
      <p:sp>
        <p:nvSpPr>
          <p:cNvPr id="513" name="A513"/>
          <p:cNvSpPr/>
          <p:nvPr/>
        </p:nvSpPr>
        <p:spPr>
          <a:xfrm>
            <a:off x="4521200" y="2819400"/>
            <a:ext cx="406400" cy="508000"/>
          </a:xfrm>
          <a:prstGeom prst="rightArrow">
            <a:avLst/>
          </a:prstGeom>
          <a:solidFill>
            <a:srgbClr val="6C3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A514"/>
          <p:cNvSpPr/>
          <p:nvPr/>
        </p:nvSpPr>
        <p:spPr>
          <a:xfrm>
            <a:off x="8128000" y="2819400"/>
            <a:ext cx="406400" cy="508000"/>
          </a:xfrm>
          <a:prstGeom prst="rightArrow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C515"/>
          <p:cNvSpPr/>
          <p:nvPr/>
        </p:nvSpPr>
        <p:spPr>
          <a:xfrm>
            <a:off x="1524000" y="4419600"/>
            <a:ext cx="10160000" cy="660400"/>
          </a:xfrm>
          <a:prstGeom prst="roundRect">
            <a:avLst>
              <a:gd name="adj" fmla="val 7000"/>
            </a:avLst>
          </a:prstGeom>
          <a:solidFill>
            <a:srgbClr val="1210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6" name="T516"/>
          <p:cNvSpPr txBox="1"/>
          <p:nvPr/>
        </p:nvSpPr>
        <p:spPr>
          <a:xfrm>
            <a:off x="1778000" y="45212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00"/>
              </a:lnSpc>
            </a:pPr>
            <a:r>
              <a:rPr lang="en-US" sz="1350" b="1" dirty="0">
                <a:solidFill>
                  <a:srgbClr val="FFB020"/>
                </a:solidFill>
              </a:rPr>
              <a:t>At recommendation time:  </a:t>
            </a:r>
            <a:r>
              <a:rPr lang="en-US" sz="1350" dirty="0">
                <a:solidFill>
                  <a:srgbClr val="FBFAFF"/>
                </a:solidFill>
              </a:rPr>
              <a:t>a cold user's source vector → through the mapping → rank target-vertical items by match. The content bridge is item text + taxonomy.</a:t>
            </a:r>
          </a:p>
        </p:txBody>
      </p:sp>
      <p:sp>
        <p:nvSpPr>
          <p:cNvPr id="517" name="T517"/>
          <p:cNvSpPr txBox="1"/>
          <p:nvPr/>
        </p:nvSpPr>
        <p:spPr>
          <a:xfrm>
            <a:off x="1524000" y="5207000"/>
            <a:ext cx="1016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50" i="1" dirty="0">
                <a:solidFill>
                  <a:srgbClr val="6C3BFF"/>
                </a:solidFill>
              </a:rPr>
              <a:t>Evaluated head-to-head vs. a single-vertical MF / NCF baseline on Recall@K and NDCG@K across 8 viable pairs.</a:t>
            </a:r>
          </a:p>
        </p:txBody>
      </p:sp>
    </p:spTree>
    <p:extLst>
      <p:ext uri="{BB962C8B-B14F-4D97-AF65-F5344CB8AC3E}">
        <p14:creationId xmlns:p14="http://schemas.microsoft.com/office/powerpoint/2010/main" val="139333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924461068]">
  <a:themeElements>
    <a:clrScheme name="Office">
      <a:dk1>
        <a:srgbClr val="12101A"/>
      </a:dk1>
      <a:lt1>
        <a:srgbClr val="FBFAFF"/>
      </a:lt1>
      <a:dk2>
        <a:srgbClr val="2A2540"/>
      </a:dk2>
      <a:lt2>
        <a:srgbClr val="EDEAF7"/>
      </a:lt2>
      <a:accent1>
        <a:srgbClr val="6C3BFF"/>
      </a:accent1>
      <a:accent2>
        <a:srgbClr val="FF5C7A"/>
      </a:accent2>
      <a:accent3>
        <a:srgbClr val="00C2A8"/>
      </a:accent3>
      <a:accent4>
        <a:srgbClr val="FFB020"/>
      </a:accent4>
      <a:accent5>
        <a:srgbClr val="3B82F6"/>
      </a:accent5>
      <a:accent6>
        <a:srgbClr val="8B5CF6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BD77FD-AD95-4CF9-A46C-FDA7D4148094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c8e1646b-35e8-4ef9-9044-fd55e164e1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606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Inter</vt:lpstr>
      <vt:lpstr>Poppins</vt:lpstr>
      <vt:lpstr>Office Theme [1780924461068]</vt:lpstr>
      <vt:lpstr>Cross-Domain Recommendation</vt:lpstr>
      <vt:lpstr>The cold-start problem across verticals</vt:lpstr>
      <vt:lpstr>The data: Amazon Reviews 2023</vt:lpstr>
      <vt:lpstr>EDA · Ratings skew positive</vt:lpstr>
      <vt:lpstr>EDA · Shared-user overlap gates the pairs</vt:lpstr>
      <vt:lpstr>Data quality → cleaning actions</vt:lpstr>
      <vt:lpstr>Our solution: EMCDR shared latent 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תמיר ספבק</dc:creator>
  <cp:lastModifiedBy>תמיר ספבק</cp:lastModifiedBy>
  <cp:revision>2</cp:revision>
  <dcterms:created xsi:type="dcterms:W3CDTF">2026-06-08T13:14:20Z</dcterms:created>
  <dcterms:modified xsi:type="dcterms:W3CDTF">2026-06-08T14:22:23Z</dcterms:modified>
</cp:coreProperties>
</file>