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37" r:id="rId2"/>
    <p:sldId id="296" r:id="rId3"/>
    <p:sldId id="295" r:id="rId4"/>
    <p:sldId id="304" r:id="rId5"/>
    <p:sldId id="265" r:id="rId6"/>
    <p:sldId id="310" r:id="rId7"/>
    <p:sldId id="279" r:id="rId8"/>
    <p:sldId id="312" r:id="rId9"/>
    <p:sldId id="308" r:id="rId10"/>
    <p:sldId id="335" r:id="rId11"/>
    <p:sldId id="322" r:id="rId12"/>
    <p:sldId id="324" r:id="rId13"/>
    <p:sldId id="336" r:id="rId14"/>
    <p:sldId id="314" r:id="rId15"/>
    <p:sldId id="338" r:id="rId16"/>
    <p:sldId id="329" r:id="rId17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85" autoAdjust="0"/>
    <p:restoredTop sz="94682"/>
  </p:normalViewPr>
  <p:slideViewPr>
    <p:cSldViewPr snapToGrid="0">
      <p:cViewPr varScale="1">
        <p:scale>
          <a:sx n="127" d="100"/>
          <a:sy n="127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2647-523D-996E-AF00-D1846A2A3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AC6E6-3B7C-B85D-23C8-5788CA1AC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04E6-15BD-4FA5-A665-196F13B7D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09/06/2026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9CE46-E762-55DC-076E-D6ECF058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3A5D-53D7-A02A-9890-F22586BF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55124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7791A-19E2-7356-9354-018C92E5F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A8076-DAC2-DF76-3401-171AB4F56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F2A2B-6932-032B-D82A-B8C7C185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09/06/2026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8062F-20D3-70D5-0A59-9D60D7BA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5D204-8A60-3104-8E1E-E3C23D03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099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BE76D-D677-078F-3BB9-C370B0F2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EBBA4-4661-CAED-B33A-137F36141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3C763-D0EE-46D8-5966-AFBC1412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09/06/2026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C29D4-21DD-6374-C170-9680DEAA8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A10C7-9EF2-45FC-0C4F-85B66ABEA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29877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2F86-816D-E2DE-5FE1-1B60C8CEA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B60F0-46EB-3762-671E-2ADD67170D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E3F86-D6A3-B1B6-2B8D-10B0C7EE7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B3D0-6A34-D826-BFBC-C6B0F8693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09/06/2026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EB63C-92AE-7FE4-C802-926F3640B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990B8-B067-7700-9A99-FC803DF7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367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A145E-42A5-248A-DFAB-73DA6CE21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72DEA-0A51-B9BD-F396-4F88F46B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27FC3-CAED-B877-DD10-9F22B2117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EEDF34-1A3A-BE0F-BF2D-A1C72EC5B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9B470-FC5F-2C6C-F137-3E2B65AB3E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059D09-B345-3C07-AA3D-A48782E5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09/06/2026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CB2E7-8324-F45D-A513-07DAF40E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7E70F-6A96-D69F-4B88-B8D5578F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5384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B912-FB0E-F388-827B-134DEAA3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5BFD9-0257-9765-2431-EA876995A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09/06/2026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7E5F6-C703-E824-9B0F-B01E0A30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93E1B-AEA1-0B48-8A1D-158FA94F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7151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7C5EB8-5AD6-32A7-18D3-B9D4F912D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09/06/2026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19414-9C03-C38E-D7C1-BC2A53B53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A9F3E-7205-E1E1-41FA-48F7A73FA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6211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258F-9D4F-2873-46A8-73B6EFA0C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97FC-4749-2322-07DF-16DC75849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B37CC-1FE3-AF72-35BD-EF42A3D4F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F6256-ED39-492D-7405-D775F8E0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09/06/2026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B222C-48A5-750E-411C-D259E1D0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CB5B4-58A8-7D71-2B99-E9DB688C6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21359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F49CD-43EB-A3D9-C923-93252D59F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8DDDF4-91D9-021D-7A44-748D7C5D7C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62643-5399-6EA0-4A93-197EAC14D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4FA80-D536-99E5-691B-DE060F3CC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09/06/2026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4310C-C3F9-9F69-7F6A-EA61F767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B62B8-FC60-2DE5-3E45-4C693C77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6525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5B627-7084-D214-14AC-AD60B55CE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A07142-CA3D-D77B-2885-360430FB4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2C98C-B19A-9E7F-36BD-D0F98319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09/06/2026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B6DD3-30D3-3462-CFCC-0DF5578A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1C800-6138-AD52-6125-3CB211F3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90161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8EBA1C-DBB3-6C71-6AC2-8F0A70DE9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4CEFA-C23E-20BB-B0C4-FBAF9B7C3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54F8F-6BBD-DC50-295D-4FC9EEDEE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A42-2043-4A4B-A4B3-A0342796380B}" type="datetimeFigureOut">
              <a:rPr lang="en-IL" smtClean="0"/>
              <a:t>09/06/2026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6DB3C-B712-9852-47F6-B0DE82E45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D858C-C528-3ECB-FDCE-9AF9A3880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3962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1969BF-EE44-5257-BBCE-9716D3EA1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7D8E1-D136-7B49-3DE5-830D4F353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4CA9B-E3EE-1DA6-F367-31AEB7D8E1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E7A42-2043-4A4B-A4B3-A0342796380B}" type="datetimeFigureOut">
              <a:rPr lang="en-IL" smtClean="0"/>
              <a:t>09/06/2026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3BBFD-AB15-1337-9DFA-96FE129D9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9B725-F74F-BA67-B8E0-6C2963E7F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073A8B-8175-4504-9302-4E5F0B524759}" type="slidenum">
              <a:rPr lang="en-IL" smtClean="0"/>
              <a:t>‹#›</a:t>
            </a:fld>
            <a:endParaRPr lang="en-IL"/>
          </a:p>
        </p:txBody>
      </p:sp>
      <p:sp>
        <p:nvSpPr>
          <p:cNvPr id="990" name="AccentBar"/>
          <p:cNvSpPr/>
          <p:nvPr/>
        </p:nvSpPr>
        <p:spPr>
          <a:xfrm>
            <a:off x="0" y="0"/>
            <a:ext cx="80000" cy="6858000"/>
          </a:xfrm>
          <a:prstGeom prst="rect">
            <a:avLst/>
          </a:prstGeom>
          <a:solidFill>
            <a:srgbClr val="6C3BFF"/>
          </a:solidFill>
        </p:spPr>
        <p:txBody>
          <a:bodyPr/>
          <a:lstStyle/>
          <a:p>
            <a:endParaRPr/>
          </a:p>
        </p:txBody>
      </p:sp>
      <p:sp>
        <p:nvSpPr>
          <p:cNvPr id="991" name="CornerBlock"/>
          <p:cNvSpPr/>
          <p:nvPr/>
        </p:nvSpPr>
        <p:spPr>
          <a:xfrm>
            <a:off x="11280000" y="6500000"/>
            <a:ext cx="912000" cy="358000"/>
          </a:xfrm>
          <a:prstGeom prst="rect">
            <a:avLst/>
          </a:prstGeom>
          <a:solidFill>
            <a:srgbClr val="6C3BFF"/>
          </a:solidFill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291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210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A25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33C14-80D9-38D3-4063-96C409299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sz="5400" b="1" dirty="0"/>
              <a:t>Cross-Domain</a:t>
            </a:r>
          </a:p>
          <a:p>
            <a:pPr algn="l"/>
            <a:r>
              <a:rPr lang="en-US" sz="5400" b="1" dirty="0">
                <a:solidFill>
                  <a:schemeClr val="accent1"/>
                </a:solidFill>
              </a:rPr>
              <a:t>Recommendation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88198-F5B7-F3C4-2BEF-5B6809C7B1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spcBef>
                <a:spcPts val="600"/>
              </a:spcBef>
            </a:pPr>
            <a:r>
              <a:rPr lang="en-US" sz="1500" dirty="0">
                <a:solidFill>
                  <a:schemeClr val="tx2"/>
                </a:solidFill>
              </a:rPr>
              <a:t>Group 12  ·  Ori Sinvani  ·  Yoav Silman  ·  Tamir Spivak  ·  Nehoray Chalfon</a:t>
            </a:r>
          </a:p>
        </p:txBody>
      </p:sp>
    </p:spTree>
    <p:extLst>
      <p:ext uri="{BB962C8B-B14F-4D97-AF65-F5344CB8AC3E}">
        <p14:creationId xmlns:p14="http://schemas.microsoft.com/office/powerpoint/2010/main" val="2666146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5B03-63EE-F1CC-0C8C-C75509A4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business problem &amp; our goal</a:t>
            </a:r>
          </a:p>
        </p:txBody>
      </p:sp>
      <p:sp>
        <p:nvSpPr>
          <p:cNvPr id="301" name="Intro"/>
          <p:cNvSpPr txBox="1"/>
          <p:nvPr/>
        </p:nvSpPr>
        <p:spPr>
          <a:xfrm>
            <a:off x="762000" y="1498600"/>
            <a:ext cx="10668000" cy="558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Every multi-category platform faces the same gap: deep signal on a user in one domain, near-zero in another — yet it’s the same person, with the same taste.</a:t>
            </a:r>
          </a:p>
        </p:txBody>
      </p:sp>
      <p:sp>
        <p:nvSpPr>
          <p:cNvPr id="310" name="Card0"/>
          <p:cNvSpPr/>
          <p:nvPr/>
        </p:nvSpPr>
        <p:spPr>
          <a:xfrm>
            <a:off x="762000" y="2133600"/>
            <a:ext cx="3302000" cy="3810000"/>
          </a:xfrm>
          <a:prstGeom prst="roundRect">
            <a:avLst>
              <a:gd name="adj" fmla="val 6000"/>
            </a:avLst>
          </a:prstGeom>
          <a:solidFill>
            <a:srgbClr val="EDEA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H0"/>
          <p:cNvSpPr txBox="1"/>
          <p:nvPr/>
        </p:nvSpPr>
        <p:spPr>
          <a:xfrm>
            <a:off x="1041400" y="3175000"/>
            <a:ext cx="2743200" cy="381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1600" b="1" dirty="0">
                <a:solidFill>
                  <a:srgbClr val="12101A"/>
                </a:solidFill>
              </a:rPr>
              <a:t>What’s broken</a:t>
            </a:r>
          </a:p>
        </p:txBody>
      </p:sp>
      <p:sp>
        <p:nvSpPr>
          <p:cNvPr id="312" name="B0"/>
          <p:cNvSpPr txBox="1"/>
          <p:nvPr/>
        </p:nvSpPr>
        <p:spPr>
          <a:xfrm>
            <a:off x="1041400" y="3657600"/>
            <a:ext cx="2743200" cy="2159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lnSpc>
                <a:spcPts val="1700"/>
              </a:lnSpc>
            </a:pPr>
            <a:r>
              <a:rPr lang="en-US" sz="1300" dirty="0">
                <a:solidFill>
                  <a:srgbClr val="2A2540"/>
                </a:solidFill>
              </a:rPr>
              <a:t>A user with a rich history in one category (Books) lands on another (Movies) and sees a generic “popular this week” rail — identical for everyone. We ignore what we already know.</a:t>
            </a:r>
          </a:p>
        </p:txBody>
      </p:sp>
      <p:sp>
        <p:nvSpPr>
          <p:cNvPr id="313" name="Card1"/>
          <p:cNvSpPr/>
          <p:nvPr/>
        </p:nvSpPr>
        <p:spPr>
          <a:xfrm>
            <a:off x="4445000" y="2133600"/>
            <a:ext cx="3302000" cy="3810000"/>
          </a:xfrm>
          <a:prstGeom prst="roundRect">
            <a:avLst>
              <a:gd name="adj" fmla="val 6000"/>
            </a:avLst>
          </a:prstGeom>
          <a:solidFill>
            <a:srgbClr val="EDEA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4" name="H1"/>
          <p:cNvSpPr txBox="1"/>
          <p:nvPr/>
        </p:nvSpPr>
        <p:spPr>
          <a:xfrm>
            <a:off x="4724400" y="3175000"/>
            <a:ext cx="2743200" cy="381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1600" b="1" dirty="0">
                <a:solidFill>
                  <a:srgbClr val="12101A"/>
                </a:solidFill>
              </a:rPr>
              <a:t>Why it matters</a:t>
            </a:r>
          </a:p>
        </p:txBody>
      </p:sp>
      <p:sp>
        <p:nvSpPr>
          <p:cNvPr id="315" name="B1"/>
          <p:cNvSpPr txBox="1"/>
          <p:nvPr/>
        </p:nvSpPr>
        <p:spPr>
          <a:xfrm>
            <a:off x="4724400" y="3657600"/>
            <a:ext cx="2743200" cy="2159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lnSpc>
                <a:spcPts val="1700"/>
              </a:lnSpc>
            </a:pPr>
            <a:r>
              <a:rPr lang="en-US" sz="1300" dirty="0">
                <a:solidFill>
                  <a:srgbClr val="2A2540"/>
                </a:solidFill>
              </a:rPr>
              <a:t>Generic cold-start experiences hurt engagement, conversion, and retention — exactly when a user is exploring a new category and a relevant recommendation matters most.</a:t>
            </a:r>
          </a:p>
        </p:txBody>
      </p:sp>
      <p:sp>
        <p:nvSpPr>
          <p:cNvPr id="316" name="Card2"/>
          <p:cNvSpPr/>
          <p:nvPr/>
        </p:nvSpPr>
        <p:spPr>
          <a:xfrm>
            <a:off x="8128000" y="2133600"/>
            <a:ext cx="3302000" cy="3810000"/>
          </a:xfrm>
          <a:prstGeom prst="roundRect">
            <a:avLst>
              <a:gd name="adj" fmla="val 6000"/>
            </a:avLst>
          </a:prstGeom>
          <a:solidFill>
            <a:srgbClr val="EDEA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7" name="H2"/>
          <p:cNvSpPr txBox="1"/>
          <p:nvPr/>
        </p:nvSpPr>
        <p:spPr>
          <a:xfrm>
            <a:off x="8407400" y="3175000"/>
            <a:ext cx="2743200" cy="381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1600" b="1" dirty="0">
                <a:solidFill>
                  <a:srgbClr val="12101A"/>
                </a:solidFill>
              </a:rPr>
              <a:t>Our goal</a:t>
            </a:r>
          </a:p>
        </p:txBody>
      </p:sp>
      <p:sp>
        <p:nvSpPr>
          <p:cNvPr id="318" name="B2"/>
          <p:cNvSpPr txBox="1"/>
          <p:nvPr/>
        </p:nvSpPr>
        <p:spPr>
          <a:xfrm>
            <a:off x="8407400" y="3657600"/>
            <a:ext cx="2743200" cy="2159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lnSpc>
                <a:spcPts val="1700"/>
              </a:lnSpc>
            </a:pPr>
            <a:r>
              <a:rPr lang="en-US" sz="1300" dirty="0">
                <a:solidFill>
                  <a:srgbClr val="2A2540"/>
                </a:solidFill>
              </a:rPr>
              <a:t>Personalize from the first visit to a new category by reusing a user’s taste from domains where we already know them — turning cross-category breadth into an advantage.</a:t>
            </a:r>
          </a:p>
        </p:txBody>
      </p:sp>
      <p:pic>
        <p:nvPicPr>
          <p:cNvPr id="319" name="Graphic 319" descr="Why it matt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6600" y="2413000"/>
            <a:ext cx="558800" cy="558800"/>
          </a:xfrm>
          <a:prstGeom prst="rect">
            <a:avLst/>
          </a:prstGeom>
        </p:spPr>
      </p:pic>
      <p:pic>
        <p:nvPicPr>
          <p:cNvPr id="320" name="Graphic 320" descr="Our go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9600" y="2413000"/>
            <a:ext cx="558800" cy="558800"/>
          </a:xfrm>
          <a:prstGeom prst="rect">
            <a:avLst/>
          </a:prstGeom>
        </p:spPr>
      </p:pic>
      <p:pic>
        <p:nvPicPr>
          <p:cNvPr id="321" name="Graphic 321" descr="What's broke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33600" y="24130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44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78FE-600E-8F3F-D789-5A7DF50A5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technical approach</a:t>
            </a:r>
          </a:p>
        </p:txBody>
      </p:sp>
      <p:sp>
        <p:nvSpPr>
          <p:cNvPr id="301" name="Intro"/>
          <p:cNvSpPr txBox="1"/>
          <p:nvPr/>
        </p:nvSpPr>
        <p:spPr>
          <a:xfrm>
            <a:off x="762000" y="1498600"/>
            <a:ext cx="10668000" cy="558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Classical collaborative filtering fails with no shared items. We learn a user representation that transfers across domains by what users like, not which items.</a:t>
            </a:r>
          </a:p>
        </p:txBody>
      </p:sp>
      <p:sp>
        <p:nvSpPr>
          <p:cNvPr id="310" name="Card0"/>
          <p:cNvSpPr/>
          <p:nvPr/>
        </p:nvSpPr>
        <p:spPr>
          <a:xfrm>
            <a:off x="762000" y="2133600"/>
            <a:ext cx="3302000" cy="3810000"/>
          </a:xfrm>
          <a:prstGeom prst="roundRect">
            <a:avLst>
              <a:gd name="adj" fmla="val 6000"/>
            </a:avLst>
          </a:prstGeom>
          <a:solidFill>
            <a:srgbClr val="EDEA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H0"/>
          <p:cNvSpPr txBox="1"/>
          <p:nvPr/>
        </p:nvSpPr>
        <p:spPr>
          <a:xfrm>
            <a:off x="1041400" y="3175000"/>
            <a:ext cx="2743200" cy="381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1700" b="1" dirty="0">
                <a:solidFill>
                  <a:srgbClr val="6C3BFF"/>
                </a:solidFill>
              </a:rPr>
              <a:t>The key insight</a:t>
            </a:r>
          </a:p>
        </p:txBody>
      </p:sp>
      <p:sp>
        <p:nvSpPr>
          <p:cNvPr id="312" name="B0"/>
          <p:cNvSpPr txBox="1"/>
          <p:nvPr/>
        </p:nvSpPr>
        <p:spPr>
          <a:xfrm>
            <a:off x="1041400" y="3657600"/>
            <a:ext cx="2743200" cy="2159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lnSpc>
                <a:spcPts val="1700"/>
              </a:lnSpc>
            </a:pPr>
            <a:r>
              <a:rPr lang="en-US" sz="1400" dirty="0">
                <a:solidFill>
                  <a:srgbClr val="2A2540"/>
                </a:solidFill>
              </a:rPr>
              <a:t>Books and movies share no item IDs, but they share semantic categories (Fantasy, Biography, Thriller…). Represent users by what they like, not which items, and preferences transfer.</a:t>
            </a:r>
          </a:p>
        </p:txBody>
      </p:sp>
      <p:sp>
        <p:nvSpPr>
          <p:cNvPr id="313" name="Card1"/>
          <p:cNvSpPr/>
          <p:nvPr/>
        </p:nvSpPr>
        <p:spPr>
          <a:xfrm>
            <a:off x="4445000" y="2133600"/>
            <a:ext cx="3302000" cy="3810000"/>
          </a:xfrm>
          <a:prstGeom prst="roundRect">
            <a:avLst>
              <a:gd name="adj" fmla="val 6000"/>
            </a:avLst>
          </a:prstGeom>
          <a:solidFill>
            <a:srgbClr val="EDEA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4" name="H1"/>
          <p:cNvSpPr txBox="1"/>
          <p:nvPr/>
        </p:nvSpPr>
        <p:spPr>
          <a:xfrm>
            <a:off x="4724400" y="3175000"/>
            <a:ext cx="2743200" cy="381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1700" b="1" dirty="0">
                <a:solidFill>
                  <a:srgbClr val="6C3BFF"/>
                </a:solidFill>
              </a:rPr>
              <a:t>Problem framing</a:t>
            </a:r>
          </a:p>
        </p:txBody>
      </p:sp>
      <p:sp>
        <p:nvSpPr>
          <p:cNvPr id="315" name="B1"/>
          <p:cNvSpPr txBox="1"/>
          <p:nvPr/>
        </p:nvSpPr>
        <p:spPr>
          <a:xfrm>
            <a:off x="4724400" y="3657600"/>
            <a:ext cx="2743200" cy="2159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lnSpc>
                <a:spcPts val="1700"/>
              </a:lnSpc>
            </a:pPr>
            <a:r>
              <a:rPr lang="en-US" sz="1400" dirty="0">
                <a:solidFill>
                  <a:srgbClr val="2A2540"/>
                </a:solidFill>
              </a:rPr>
              <a:t>Not tabular classification. It’s representation- and transfer-learning over two sparse interaction matrices plus item metadata — learning user embeddings that capture domain-invariant taste.</a:t>
            </a:r>
          </a:p>
        </p:txBody>
      </p:sp>
      <p:sp>
        <p:nvSpPr>
          <p:cNvPr id="316" name="Card2"/>
          <p:cNvSpPr/>
          <p:nvPr/>
        </p:nvSpPr>
        <p:spPr>
          <a:xfrm>
            <a:off x="8128000" y="2133600"/>
            <a:ext cx="3302000" cy="3810000"/>
          </a:xfrm>
          <a:prstGeom prst="roundRect">
            <a:avLst>
              <a:gd name="adj" fmla="val 6000"/>
            </a:avLst>
          </a:prstGeom>
          <a:solidFill>
            <a:srgbClr val="EDEA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7" name="H2"/>
          <p:cNvSpPr txBox="1"/>
          <p:nvPr/>
        </p:nvSpPr>
        <p:spPr>
          <a:xfrm>
            <a:off x="8407400" y="3175000"/>
            <a:ext cx="2743200" cy="381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1700" b="1" dirty="0">
                <a:solidFill>
                  <a:srgbClr val="6C3BFF"/>
                </a:solidFill>
              </a:rPr>
              <a:t>What we build</a:t>
            </a:r>
          </a:p>
        </p:txBody>
      </p:sp>
      <p:sp>
        <p:nvSpPr>
          <p:cNvPr id="318" name="B2"/>
          <p:cNvSpPr txBox="1"/>
          <p:nvPr/>
        </p:nvSpPr>
        <p:spPr>
          <a:xfrm>
            <a:off x="8407400" y="3657600"/>
            <a:ext cx="2743200" cy="2159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lnSpc>
                <a:spcPts val="1700"/>
              </a:lnSpc>
            </a:pPr>
            <a:r>
              <a:rPr lang="en-US" sz="1400" dirty="0">
                <a:solidFill>
                  <a:srgbClr val="2A2540"/>
                </a:solidFill>
              </a:rPr>
              <a:t>A transferable user representation predicting target-domain preferences from source history. We compare three approaches and evaluate across cold-start, sparse, and warm regimes.</a:t>
            </a:r>
          </a:p>
        </p:txBody>
      </p:sp>
      <p:pic>
        <p:nvPicPr>
          <p:cNvPr id="319" name="Graphic 319" descr="The key insigh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3600" y="2413000"/>
            <a:ext cx="558800" cy="558800"/>
          </a:xfrm>
          <a:prstGeom prst="rect">
            <a:avLst/>
          </a:prstGeom>
        </p:spPr>
      </p:pic>
      <p:pic>
        <p:nvPicPr>
          <p:cNvPr id="320" name="Graphic 320" descr="Problem fram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6600" y="2413000"/>
            <a:ext cx="558800" cy="558800"/>
          </a:xfrm>
          <a:prstGeom prst="rect">
            <a:avLst/>
          </a:prstGeom>
        </p:spPr>
      </p:pic>
      <p:pic>
        <p:nvPicPr>
          <p:cNvPr id="321" name="Graphic 321" descr="What we buil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99600" y="24130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8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4B357-E090-4891-E4FA-0351CA11B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000" b="1" dirty="0">
                <a:solidFill>
                  <a:srgbClr val="6C3BFF"/>
                </a:solidFill>
              </a:rPr>
              <a:t>01</a:t>
            </a:r>
          </a:p>
          <a:p>
            <a:pPr>
              <a:buNone/>
            </a:pPr>
            <a:r>
              <a:rPr lang="en-US" dirty="0"/>
              <a:t>Data prep &amp; EDA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281A0-0D91-8CCD-2E9A-69E15388C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600" dirty="0">
                <a:solidFill>
                  <a:schemeClr val="tx2"/>
                </a:solidFill>
              </a:rPr>
              <a:t>Where the data comes from, how big it is, and whether it supports cross-domain transfer.</a:t>
            </a:r>
          </a:p>
        </p:txBody>
      </p:sp>
    </p:spTree>
    <p:extLst>
      <p:ext uri="{BB962C8B-B14F-4D97-AF65-F5344CB8AC3E}">
        <p14:creationId xmlns:p14="http://schemas.microsoft.com/office/powerpoint/2010/main" val="4097531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D643-34C3-A319-1153-2D2D5A022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data: Amazon Reviews 2023</a:t>
            </a:r>
            <a:endParaRPr lang="en-IL"/>
          </a:p>
        </p:txBody>
      </p:sp>
      <p:sp>
        <p:nvSpPr>
          <p:cNvPr id="301" name="R301"/>
          <p:cNvSpPr/>
          <p:nvPr/>
        </p:nvSpPr>
        <p:spPr>
          <a:xfrm>
            <a:off x="1524000" y="1905000"/>
            <a:ext cx="76200" cy="812800"/>
          </a:xfrm>
          <a:prstGeom prst="rect">
            <a:avLst/>
          </a:prstGeom>
          <a:solidFill>
            <a:srgbClr val="6C3B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T302"/>
          <p:cNvSpPr txBox="1"/>
          <p:nvPr/>
        </p:nvSpPr>
        <p:spPr>
          <a:xfrm>
            <a:off x="1803400" y="1930400"/>
            <a:ext cx="3429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800" b="1" dirty="0">
                <a:solidFill>
                  <a:srgbClr val="6C3BFF"/>
                </a:solidFill>
              </a:rPr>
              <a:t>71.7M</a:t>
            </a:r>
          </a:p>
        </p:txBody>
      </p:sp>
      <p:sp>
        <p:nvSpPr>
          <p:cNvPr id="303" name="T303"/>
          <p:cNvSpPr txBox="1"/>
          <p:nvPr/>
        </p:nvSpPr>
        <p:spPr>
          <a:xfrm>
            <a:off x="1803400" y="2413000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00" dirty="0">
                <a:solidFill>
                  <a:srgbClr val="2A2540"/>
                </a:solidFill>
              </a:rPr>
              <a:t>interactions</a:t>
            </a:r>
          </a:p>
        </p:txBody>
      </p:sp>
      <p:sp>
        <p:nvSpPr>
          <p:cNvPr id="304" name="R304"/>
          <p:cNvSpPr/>
          <p:nvPr/>
        </p:nvSpPr>
        <p:spPr>
          <a:xfrm>
            <a:off x="1524000" y="2921000"/>
            <a:ext cx="76200" cy="812800"/>
          </a:xfrm>
          <a:prstGeom prst="rect">
            <a:avLst/>
          </a:prstGeom>
          <a:solidFill>
            <a:srgbClr val="FF5C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5" name="T305"/>
          <p:cNvSpPr txBox="1"/>
          <p:nvPr/>
        </p:nvSpPr>
        <p:spPr>
          <a:xfrm>
            <a:off x="1803400" y="2946400"/>
            <a:ext cx="3429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800" b="1" dirty="0">
                <a:solidFill>
                  <a:srgbClr val="FF5C7A"/>
                </a:solidFill>
              </a:rPr>
              <a:t>6.9M</a:t>
            </a:r>
          </a:p>
        </p:txBody>
      </p:sp>
      <p:sp>
        <p:nvSpPr>
          <p:cNvPr id="306" name="T306"/>
          <p:cNvSpPr txBox="1"/>
          <p:nvPr/>
        </p:nvSpPr>
        <p:spPr>
          <a:xfrm>
            <a:off x="1803400" y="3429000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00" dirty="0">
                <a:solidFill>
                  <a:srgbClr val="2A2540"/>
                </a:solidFill>
              </a:rPr>
              <a:t>items across 5 catalogs</a:t>
            </a:r>
          </a:p>
        </p:txBody>
      </p:sp>
      <p:sp>
        <p:nvSpPr>
          <p:cNvPr id="307" name="R307"/>
          <p:cNvSpPr/>
          <p:nvPr/>
        </p:nvSpPr>
        <p:spPr>
          <a:xfrm>
            <a:off x="1524000" y="3937000"/>
            <a:ext cx="76200" cy="8128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8" name="T308"/>
          <p:cNvSpPr txBox="1"/>
          <p:nvPr/>
        </p:nvSpPr>
        <p:spPr>
          <a:xfrm>
            <a:off x="1803400" y="3962400"/>
            <a:ext cx="3429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800" b="1" dirty="0">
                <a:solidFill>
                  <a:srgbClr val="00C2A8"/>
                </a:solidFill>
              </a:rPr>
              <a:t>5</a:t>
            </a:r>
          </a:p>
        </p:txBody>
      </p:sp>
      <p:sp>
        <p:nvSpPr>
          <p:cNvPr id="309" name="T309"/>
          <p:cNvSpPr txBox="1"/>
          <p:nvPr/>
        </p:nvSpPr>
        <p:spPr>
          <a:xfrm>
            <a:off x="1803400" y="4445000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00" dirty="0">
                <a:solidFill>
                  <a:srgbClr val="2A2540"/>
                </a:solidFill>
              </a:rPr>
              <a:t>entertainment verticals</a:t>
            </a:r>
          </a:p>
        </p:txBody>
      </p:sp>
      <p:sp>
        <p:nvSpPr>
          <p:cNvPr id="310" name="R310"/>
          <p:cNvSpPr/>
          <p:nvPr/>
        </p:nvSpPr>
        <p:spPr>
          <a:xfrm>
            <a:off x="1524000" y="4953000"/>
            <a:ext cx="76200" cy="81280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T311"/>
          <p:cNvSpPr txBox="1"/>
          <p:nvPr/>
        </p:nvSpPr>
        <p:spPr>
          <a:xfrm>
            <a:off x="1803400" y="4978400"/>
            <a:ext cx="3429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800" b="1" dirty="0">
                <a:solidFill>
                  <a:srgbClr val="FFB020"/>
                </a:solidFill>
              </a:rPr>
              <a:t>22.6 GB</a:t>
            </a:r>
          </a:p>
        </p:txBody>
      </p:sp>
      <p:sp>
        <p:nvSpPr>
          <p:cNvPr id="312" name="T312"/>
          <p:cNvSpPr txBox="1"/>
          <p:nvPr/>
        </p:nvSpPr>
        <p:spPr>
          <a:xfrm>
            <a:off x="1803400" y="5461000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00" dirty="0">
                <a:solidFill>
                  <a:srgbClr val="2A2540"/>
                </a:solidFill>
              </a:rPr>
              <a:t>raw, pulled via HuggingFace</a:t>
            </a:r>
          </a:p>
        </p:txBody>
      </p:sp>
      <p:sp>
        <p:nvSpPr>
          <p:cNvPr id="313" name="T313"/>
          <p:cNvSpPr txBox="1"/>
          <p:nvPr/>
        </p:nvSpPr>
        <p:spPr>
          <a:xfrm>
            <a:off x="5969000" y="1905000"/>
            <a:ext cx="46990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600" b="1" dirty="0">
                <a:solidFill>
                  <a:srgbClr val="6C3BFF"/>
                </a:solidFill>
              </a:rPr>
              <a:t>WHAT WE PULL &amp; WHY</a:t>
            </a:r>
          </a:p>
        </p:txBody>
      </p:sp>
      <p:sp>
        <p:nvSpPr>
          <p:cNvPr id="314" name="T314"/>
          <p:cNvSpPr txBox="1"/>
          <p:nvPr/>
        </p:nvSpPr>
        <p:spPr>
          <a:xfrm>
            <a:off x="5969000" y="2336800"/>
            <a:ext cx="4699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50" b="1" dirty="0">
                <a:solidFill>
                  <a:srgbClr val="12101A"/>
                </a:solidFill>
              </a:rPr>
              <a:t>Interactions</a:t>
            </a:r>
          </a:p>
        </p:txBody>
      </p:sp>
      <p:sp>
        <p:nvSpPr>
          <p:cNvPr id="315" name="T315"/>
          <p:cNvSpPr txBox="1"/>
          <p:nvPr/>
        </p:nvSpPr>
        <p:spPr>
          <a:xfrm>
            <a:off x="5969000" y="2641600"/>
            <a:ext cx="4699000" cy="762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550"/>
              </a:lnSpc>
            </a:pPr>
            <a:r>
              <a:rPr lang="en-US" sz="1250" dirty="0">
                <a:solidFill>
                  <a:srgbClr val="2A2540"/>
                </a:solidFill>
              </a:rPr>
              <a:t>user, item, rating, timestamp.</a:t>
            </a:r>
          </a:p>
        </p:txBody>
      </p:sp>
      <p:sp>
        <p:nvSpPr>
          <p:cNvPr id="316" name="T316"/>
          <p:cNvSpPr txBox="1"/>
          <p:nvPr/>
        </p:nvSpPr>
        <p:spPr>
          <a:xfrm>
            <a:off x="5969000" y="3378200"/>
            <a:ext cx="4699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50" b="1" dirty="0">
                <a:solidFill>
                  <a:srgbClr val="12101A"/>
                </a:solidFill>
              </a:rPr>
              <a:t>Item metadata</a:t>
            </a:r>
          </a:p>
        </p:txBody>
      </p:sp>
      <p:sp>
        <p:nvSpPr>
          <p:cNvPr id="317" name="T317"/>
          <p:cNvSpPr txBox="1"/>
          <p:nvPr/>
        </p:nvSpPr>
        <p:spPr>
          <a:xfrm>
            <a:off x="5969000" y="3683000"/>
            <a:ext cx="4699000" cy="762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550"/>
              </a:lnSpc>
            </a:pPr>
            <a:r>
              <a:rPr lang="en-US" sz="1250" dirty="0">
                <a:solidFill>
                  <a:srgbClr val="2A2540"/>
                </a:solidFill>
              </a:rPr>
              <a:t>title, description, categories.</a:t>
            </a:r>
          </a:p>
        </p:txBody>
      </p:sp>
      <p:sp>
        <p:nvSpPr>
          <p:cNvPr id="318" name="T318"/>
          <p:cNvSpPr txBox="1"/>
          <p:nvPr/>
        </p:nvSpPr>
        <p:spPr>
          <a:xfrm>
            <a:off x="5969000" y="4419600"/>
            <a:ext cx="4699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50" b="1" dirty="0">
                <a:solidFill>
                  <a:srgbClr val="12101A"/>
                </a:solidFill>
              </a:rPr>
              <a:t>Shared users</a:t>
            </a:r>
          </a:p>
        </p:txBody>
      </p:sp>
      <p:sp>
        <p:nvSpPr>
          <p:cNvPr id="319" name="T319"/>
          <p:cNvSpPr txBox="1"/>
          <p:nvPr/>
        </p:nvSpPr>
        <p:spPr>
          <a:xfrm>
            <a:off x="5969000" y="4724400"/>
            <a:ext cx="4699000" cy="762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550"/>
              </a:lnSpc>
            </a:pPr>
            <a:r>
              <a:rPr lang="en-US" sz="1250" dirty="0">
                <a:solidFill>
                  <a:srgbClr val="2A2540"/>
                </a:solidFill>
              </a:rPr>
              <a:t>recovered by intersecting user columns — the same ID denotes the same person across verticals.</a:t>
            </a:r>
          </a:p>
        </p:txBody>
      </p:sp>
      <p:sp>
        <p:nvSpPr>
          <p:cNvPr id="320" name="R320"/>
          <p:cNvSpPr/>
          <p:nvPr/>
        </p:nvSpPr>
        <p:spPr>
          <a:xfrm>
            <a:off x="5969000" y="5537200"/>
            <a:ext cx="4699000" cy="711200"/>
          </a:xfrm>
          <a:prstGeom prst="roundRect">
            <a:avLst>
              <a:gd name="adj" fmla="val 8000"/>
            </a:avLst>
          </a:prstGeom>
          <a:solidFill>
            <a:srgbClr val="EDEA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T321"/>
          <p:cNvSpPr txBox="1"/>
          <p:nvPr/>
        </p:nvSpPr>
        <p:spPr>
          <a:xfrm>
            <a:off x="6172200" y="5537200"/>
            <a:ext cx="4368800" cy="7112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r>
              <a:rPr lang="en-US" sz="1300" dirty="0">
                <a:solidFill>
                  <a:srgbClr val="C2334E"/>
                </a:solidFill>
              </a:rPr>
              <a:t>Dropped: full review text, pre-built splits, images/price/subtitle, bought_together (100% null).</a:t>
            </a:r>
          </a:p>
        </p:txBody>
      </p:sp>
    </p:spTree>
    <p:extLst>
      <p:ext uri="{BB962C8B-B14F-4D97-AF65-F5344CB8AC3E}">
        <p14:creationId xmlns:p14="http://schemas.microsoft.com/office/powerpoint/2010/main" val="2789977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A7ADB-7635-26B7-B1F7-817B490E8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five verticals at a glance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5B1839-BED5-EF43-8BA7-718E176A3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127838"/>
              </p:ext>
            </p:extLst>
          </p:nvPr>
        </p:nvGraphicFramePr>
        <p:xfrm>
          <a:off x="762000" y="2159000"/>
          <a:ext cx="6477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308883759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957080287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64112265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425165896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IL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Vertical</a:t>
                      </a:r>
                    </a:p>
                  </a:txBody>
                  <a:tcPr anchor="ctr">
                    <a:solidFill>
                      <a:srgbClr val="6C3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Interactions </a:t>
                      </a:r>
                    </a:p>
                  </a:txBody>
                  <a:tcPr anchor="ctr">
                    <a:solidFill>
                      <a:srgbClr val="6C3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Users</a:t>
                      </a:r>
                    </a:p>
                  </a:txBody>
                  <a:tcPr anchor="ctr">
                    <a:solidFill>
                      <a:srgbClr val="6C3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Items</a:t>
                      </a:r>
                    </a:p>
                  </a:txBody>
                  <a:tcPr anchor="ctr">
                    <a:solidFill>
                      <a:srgbClr val="6C3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79356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L" sz="1400" b="1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Books</a:t>
                      </a:r>
                    </a:p>
                  </a:txBody>
                  <a:tcPr anchor="ctr"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29.1M</a:t>
                      </a:r>
                    </a:p>
                  </a:txBody>
                  <a:tcPr anchor="ctr"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10.3M</a:t>
                      </a:r>
                    </a:p>
                  </a:txBody>
                  <a:tcPr anchor="ctr"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4.45M</a:t>
                      </a:r>
                    </a:p>
                  </a:txBody>
                  <a:tcPr anchor="ctr">
                    <a:solidFill>
                      <a:srgbClr val="FB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5282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L" sz="1400" b="1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Movies &amp; TV</a:t>
                      </a:r>
                    </a:p>
                  </a:txBody>
                  <a:tcPr anchor="ctr">
                    <a:solidFill>
                      <a:srgbClr val="EDE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17.16M</a:t>
                      </a:r>
                    </a:p>
                  </a:txBody>
                  <a:tcPr anchor="ctr">
                    <a:solidFill>
                      <a:srgbClr val="EDE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6.50M</a:t>
                      </a:r>
                    </a:p>
                  </a:txBody>
                  <a:tcPr anchor="ctr">
                    <a:solidFill>
                      <a:srgbClr val="EDE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748K</a:t>
                      </a:r>
                    </a:p>
                  </a:txBody>
                  <a:tcPr anchor="ctr">
                    <a:solidFill>
                      <a:srgbClr val="ED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28008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L" sz="1400" b="1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Toys &amp; Games</a:t>
                      </a:r>
                    </a:p>
                  </a:txBody>
                  <a:tcPr anchor="ctr"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16.05M</a:t>
                      </a:r>
                    </a:p>
                  </a:txBody>
                  <a:tcPr anchor="ctr"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8.12M</a:t>
                      </a:r>
                    </a:p>
                  </a:txBody>
                  <a:tcPr anchor="ctr"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891K</a:t>
                      </a:r>
                    </a:p>
                  </a:txBody>
                  <a:tcPr anchor="ctr">
                    <a:solidFill>
                      <a:srgbClr val="FB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L" sz="1400" b="1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CDs &amp; Vinyl</a:t>
                      </a:r>
                    </a:p>
                  </a:txBody>
                  <a:tcPr anchor="ctr">
                    <a:solidFill>
                      <a:srgbClr val="EDE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4.77M</a:t>
                      </a:r>
                    </a:p>
                  </a:txBody>
                  <a:tcPr anchor="ctr">
                    <a:solidFill>
                      <a:srgbClr val="EDE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1.75M</a:t>
                      </a:r>
                    </a:p>
                  </a:txBody>
                  <a:tcPr anchor="ctr">
                    <a:solidFill>
                      <a:srgbClr val="EDE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702K</a:t>
                      </a:r>
                    </a:p>
                  </a:txBody>
                  <a:tcPr anchor="ctr">
                    <a:solidFill>
                      <a:srgbClr val="ED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18778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L" sz="1400" b="1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Video Games</a:t>
                      </a:r>
                    </a:p>
                  </a:txBody>
                  <a:tcPr anchor="ctr"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4.56M</a:t>
                      </a:r>
                    </a:p>
                  </a:txBody>
                  <a:tcPr anchor="ctr"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2.77M</a:t>
                      </a:r>
                    </a:p>
                  </a:txBody>
                  <a:tcPr anchor="ctr"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L" sz="1400" dirty="0">
                          <a:solidFill>
                            <a:srgbClr val="2A2540"/>
                          </a:solidFill>
                          <a:latin typeface="Arial"/>
                          <a:cs typeface="Arial"/>
                        </a:rPr>
                        <a:t>137K</a:t>
                      </a:r>
                    </a:p>
                  </a:txBody>
                  <a:tcPr anchor="ctr">
                    <a:solidFill>
                      <a:srgbClr val="FB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02313"/>
                  </a:ext>
                </a:extLst>
              </a:tr>
            </a:tbl>
          </a:graphicData>
        </a:graphic>
      </p:graphicFrame>
      <p:sp>
        <p:nvSpPr>
          <p:cNvPr id="310" name="H"/>
          <p:cNvSpPr txBox="1"/>
          <p:nvPr/>
        </p:nvSpPr>
        <p:spPr>
          <a:xfrm>
            <a:off x="7620000" y="2235200"/>
            <a:ext cx="3810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1600" b="1" dirty="0">
                <a:solidFill>
                  <a:srgbClr val="6C3BFF"/>
                </a:solidFill>
              </a:rPr>
              <a:t>WHY IT MATTERS</a:t>
            </a:r>
          </a:p>
        </p:txBody>
      </p:sp>
      <p:sp>
        <p:nvSpPr>
          <p:cNvPr id="311" name="B"/>
          <p:cNvSpPr txBox="1"/>
          <p:nvPr/>
        </p:nvSpPr>
        <p:spPr>
          <a:xfrm>
            <a:off x="7620000" y="2692400"/>
            <a:ext cx="3810000" cy="762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ts val="1550"/>
              </a:lnSpc>
            </a:pPr>
            <a:r>
              <a:rPr lang="en-US" sz="1250" dirty="0">
                <a:solidFill>
                  <a:srgbClr val="2A2540"/>
                </a:solidFill>
              </a:rPr>
              <a:t>Books and Movies are the data-rich anchors — the source domains we transfer from.</a:t>
            </a:r>
          </a:p>
        </p:txBody>
      </p:sp>
      <p:sp>
        <p:nvSpPr>
          <p:cNvPr id="312" name="B"/>
          <p:cNvSpPr txBox="1"/>
          <p:nvPr/>
        </p:nvSpPr>
        <p:spPr>
          <a:xfrm>
            <a:off x="7620000" y="3556000"/>
            <a:ext cx="3810000" cy="762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ts val="1550"/>
              </a:lnSpc>
            </a:pPr>
            <a:r>
              <a:rPr lang="en-US" sz="1250" dirty="0">
                <a:solidFill>
                  <a:srgbClr val="2A2540"/>
                </a:solidFill>
              </a:rPr>
              <a:t>Video Games is the sparse target: ~12× fewer items than Books, the hardest cold-start case.</a:t>
            </a:r>
          </a:p>
        </p:txBody>
      </p:sp>
      <p:sp>
        <p:nvSpPr>
          <p:cNvPr id="313" name="B"/>
          <p:cNvSpPr txBox="1"/>
          <p:nvPr/>
        </p:nvSpPr>
        <p:spPr>
          <a:xfrm>
            <a:off x="7620000" y="4419600"/>
            <a:ext cx="3810000" cy="914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ts val="1550"/>
              </a:lnSpc>
            </a:pPr>
            <a:r>
              <a:rPr lang="en-US" sz="1250" dirty="0">
                <a:solidFill>
                  <a:srgbClr val="2A2540"/>
                </a:solidFill>
              </a:rPr>
              <a:t>Scale spans an order of magnitude, so every method is tested on both rich and thin verticals.</a:t>
            </a:r>
          </a:p>
        </p:txBody>
      </p:sp>
    </p:spTree>
    <p:extLst>
      <p:ext uri="{BB962C8B-B14F-4D97-AF65-F5344CB8AC3E}">
        <p14:creationId xmlns:p14="http://schemas.microsoft.com/office/powerpoint/2010/main" val="4033959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16D9C-2160-05A6-0EF9-91BFC7CDA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→ cleaning actions</a:t>
            </a:r>
            <a:endParaRPr lang="en-IL"/>
          </a:p>
        </p:txBody>
      </p:sp>
      <p:sp>
        <p:nvSpPr>
          <p:cNvPr id="401" name="T401"/>
          <p:cNvSpPr txBox="1"/>
          <p:nvPr/>
        </p:nvSpPr>
        <p:spPr>
          <a:xfrm>
            <a:off x="1524000" y="1905000"/>
            <a:ext cx="45085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500" b="1" dirty="0">
                <a:solidFill>
                  <a:srgbClr val="FF5C7A"/>
                </a:solidFill>
              </a:rPr>
              <a:t>ISSUE FOUND </a:t>
            </a:r>
          </a:p>
        </p:txBody>
      </p:sp>
      <p:sp>
        <p:nvSpPr>
          <p:cNvPr id="402" name="T402"/>
          <p:cNvSpPr txBox="1"/>
          <p:nvPr/>
        </p:nvSpPr>
        <p:spPr>
          <a:xfrm>
            <a:off x="6858000" y="1905000"/>
            <a:ext cx="3810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500" b="1" dirty="0">
                <a:solidFill>
                  <a:srgbClr val="00C2A8"/>
                </a:solidFill>
              </a:rPr>
              <a:t>CLEANING ACTION </a:t>
            </a:r>
          </a:p>
        </p:txBody>
      </p:sp>
      <p:sp>
        <p:nvSpPr>
          <p:cNvPr id="403" name="R403"/>
          <p:cNvSpPr/>
          <p:nvPr/>
        </p:nvSpPr>
        <p:spPr>
          <a:xfrm>
            <a:off x="1524000" y="2336800"/>
            <a:ext cx="4508500" cy="99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4" name="R404"/>
          <p:cNvSpPr/>
          <p:nvPr/>
        </p:nvSpPr>
        <p:spPr>
          <a:xfrm>
            <a:off x="1524000" y="2336800"/>
            <a:ext cx="63500" cy="990600"/>
          </a:xfrm>
          <a:prstGeom prst="rect">
            <a:avLst/>
          </a:prstGeom>
          <a:solidFill>
            <a:srgbClr val="FF5C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5" name="T405"/>
          <p:cNvSpPr txBox="1"/>
          <p:nvPr/>
        </p:nvSpPr>
        <p:spPr>
          <a:xfrm>
            <a:off x="1752600" y="24638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600" b="1" dirty="0">
                <a:solidFill>
                  <a:srgbClr val="12101A"/>
                </a:solidFill>
              </a:rPr>
              <a:t>Missing item text</a:t>
            </a:r>
          </a:p>
        </p:txBody>
      </p:sp>
      <p:sp>
        <p:nvSpPr>
          <p:cNvPr id="406" name="T406"/>
          <p:cNvSpPr txBox="1"/>
          <p:nvPr/>
        </p:nvSpPr>
        <p:spPr>
          <a:xfrm>
            <a:off x="1752600" y="27559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endParaRPr/>
          </a:p>
        </p:txBody>
      </p:sp>
      <p:sp>
        <p:nvSpPr>
          <p:cNvPr id="407" name="T407"/>
          <p:cNvSpPr txBox="1"/>
          <p:nvPr/>
        </p:nvSpPr>
        <p:spPr>
          <a:xfrm>
            <a:off x="6070600" y="2628900"/>
            <a:ext cx="736600" cy="406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2000" b="1" dirty="0">
                <a:solidFill>
                  <a:srgbClr val="6C3BFF"/>
                </a:solidFill>
              </a:rPr>
              <a:t>→</a:t>
            </a:r>
          </a:p>
        </p:txBody>
      </p:sp>
      <p:sp>
        <p:nvSpPr>
          <p:cNvPr id="408" name="R408"/>
          <p:cNvSpPr/>
          <p:nvPr/>
        </p:nvSpPr>
        <p:spPr>
          <a:xfrm>
            <a:off x="6858000" y="2336800"/>
            <a:ext cx="3810000" cy="990600"/>
          </a:xfrm>
          <a:prstGeom prst="roundRect">
            <a:avLst>
              <a:gd name="adj" fmla="val 6000"/>
            </a:avLst>
          </a:prstGeom>
          <a:solidFill>
            <a:srgbClr val="E5F8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9" name="T409"/>
          <p:cNvSpPr txBox="1"/>
          <p:nvPr/>
        </p:nvSpPr>
        <p:spPr>
          <a:xfrm>
            <a:off x="7061200" y="2463800"/>
            <a:ext cx="3454400" cy="762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r>
              <a:rPr lang="en-US" sz="1300" dirty="0">
                <a:solidFill>
                  <a:srgbClr val="2A2540"/>
                </a:solidFill>
              </a:rPr>
              <a:t>Fall back to title + store + details; no-text items get a shared placeholder vector — never dropped.</a:t>
            </a:r>
          </a:p>
        </p:txBody>
      </p:sp>
      <p:sp>
        <p:nvSpPr>
          <p:cNvPr id="410" name="R410"/>
          <p:cNvSpPr/>
          <p:nvPr/>
        </p:nvSpPr>
        <p:spPr>
          <a:xfrm>
            <a:off x="1524000" y="3429000"/>
            <a:ext cx="4508500" cy="99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1" name="R411"/>
          <p:cNvSpPr/>
          <p:nvPr/>
        </p:nvSpPr>
        <p:spPr>
          <a:xfrm>
            <a:off x="1524000" y="3429000"/>
            <a:ext cx="63500" cy="990600"/>
          </a:xfrm>
          <a:prstGeom prst="rect">
            <a:avLst/>
          </a:prstGeom>
          <a:solidFill>
            <a:srgbClr val="FF5C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2" name="T412"/>
          <p:cNvSpPr txBox="1"/>
          <p:nvPr/>
        </p:nvSpPr>
        <p:spPr>
          <a:xfrm>
            <a:off x="1752600" y="35560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600" b="1" dirty="0">
                <a:solidFill>
                  <a:srgbClr val="12101A"/>
                </a:solidFill>
              </a:rPr>
              <a:t>Out-of-range ratings</a:t>
            </a:r>
          </a:p>
        </p:txBody>
      </p:sp>
      <p:sp>
        <p:nvSpPr>
          <p:cNvPr id="413" name="T413"/>
          <p:cNvSpPr txBox="1"/>
          <p:nvPr/>
        </p:nvSpPr>
        <p:spPr>
          <a:xfrm>
            <a:off x="1752600" y="38481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r>
              <a:rPr lang="en-US" sz="1300" dirty="0">
                <a:solidFill>
                  <a:srgbClr val="2A2540"/>
                </a:solidFill>
              </a:rPr>
              <a:t>4 Books rows carry a 0 (0.00001%).</a:t>
            </a:r>
          </a:p>
        </p:txBody>
      </p:sp>
      <p:sp>
        <p:nvSpPr>
          <p:cNvPr id="414" name="T414"/>
          <p:cNvSpPr txBox="1"/>
          <p:nvPr/>
        </p:nvSpPr>
        <p:spPr>
          <a:xfrm>
            <a:off x="6070600" y="3721100"/>
            <a:ext cx="736600" cy="406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2000" b="1" dirty="0">
                <a:solidFill>
                  <a:srgbClr val="6C3BFF"/>
                </a:solidFill>
              </a:rPr>
              <a:t>→</a:t>
            </a:r>
          </a:p>
        </p:txBody>
      </p:sp>
      <p:sp>
        <p:nvSpPr>
          <p:cNvPr id="415" name="R415"/>
          <p:cNvSpPr/>
          <p:nvPr/>
        </p:nvSpPr>
        <p:spPr>
          <a:xfrm>
            <a:off x="6858000" y="3429000"/>
            <a:ext cx="3810000" cy="990600"/>
          </a:xfrm>
          <a:prstGeom prst="roundRect">
            <a:avLst>
              <a:gd name="adj" fmla="val 6000"/>
            </a:avLst>
          </a:prstGeom>
          <a:solidFill>
            <a:srgbClr val="E5F8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6" name="T416"/>
          <p:cNvSpPr txBox="1"/>
          <p:nvPr/>
        </p:nvSpPr>
        <p:spPr>
          <a:xfrm>
            <a:off x="7061200" y="3556000"/>
            <a:ext cx="3454400" cy="762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r>
              <a:rPr lang="en-US" sz="1300" dirty="0">
                <a:solidFill>
                  <a:srgbClr val="2A2540"/>
                </a:solidFill>
              </a:rPr>
              <a:t>Drop the 4 rows. Neutral 3-stars removed separately as a labelling choice.</a:t>
            </a:r>
          </a:p>
        </p:txBody>
      </p:sp>
      <p:sp>
        <p:nvSpPr>
          <p:cNvPr id="417" name="R417"/>
          <p:cNvSpPr/>
          <p:nvPr/>
        </p:nvSpPr>
        <p:spPr>
          <a:xfrm>
            <a:off x="1524000" y="4521200"/>
            <a:ext cx="4508500" cy="99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8" name="R418"/>
          <p:cNvSpPr/>
          <p:nvPr/>
        </p:nvSpPr>
        <p:spPr>
          <a:xfrm>
            <a:off x="1524000" y="4521200"/>
            <a:ext cx="63500" cy="990600"/>
          </a:xfrm>
          <a:prstGeom prst="rect">
            <a:avLst/>
          </a:prstGeom>
          <a:solidFill>
            <a:srgbClr val="FF5C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9" name="T419"/>
          <p:cNvSpPr txBox="1"/>
          <p:nvPr/>
        </p:nvSpPr>
        <p:spPr>
          <a:xfrm>
            <a:off x="1752600" y="464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600" b="1" dirty="0">
                <a:solidFill>
                  <a:srgbClr val="12101A"/>
                </a:solidFill>
              </a:rPr>
              <a:t>bought_together null</a:t>
            </a:r>
          </a:p>
        </p:txBody>
      </p:sp>
      <p:sp>
        <p:nvSpPr>
          <p:cNvPr id="420" name="T420"/>
          <p:cNvSpPr txBox="1"/>
          <p:nvPr/>
        </p:nvSpPr>
        <p:spPr>
          <a:xfrm>
            <a:off x="1752600" y="49403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r>
              <a:rPr lang="en-US" sz="1300" dirty="0">
                <a:solidFill>
                  <a:srgbClr val="2A2540"/>
                </a:solidFill>
              </a:rPr>
              <a:t>100% null across all 6.9M items.</a:t>
            </a:r>
          </a:p>
        </p:txBody>
      </p:sp>
      <p:sp>
        <p:nvSpPr>
          <p:cNvPr id="421" name="T421"/>
          <p:cNvSpPr txBox="1"/>
          <p:nvPr/>
        </p:nvSpPr>
        <p:spPr>
          <a:xfrm>
            <a:off x="6070600" y="4813300"/>
            <a:ext cx="736600" cy="406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2000" b="1" dirty="0">
                <a:solidFill>
                  <a:srgbClr val="6C3BFF"/>
                </a:solidFill>
              </a:rPr>
              <a:t>→</a:t>
            </a:r>
          </a:p>
        </p:txBody>
      </p:sp>
      <p:sp>
        <p:nvSpPr>
          <p:cNvPr id="422" name="R422"/>
          <p:cNvSpPr/>
          <p:nvPr/>
        </p:nvSpPr>
        <p:spPr>
          <a:xfrm>
            <a:off x="6858000" y="4521200"/>
            <a:ext cx="3810000" cy="990600"/>
          </a:xfrm>
          <a:prstGeom prst="roundRect">
            <a:avLst>
              <a:gd name="adj" fmla="val 6000"/>
            </a:avLst>
          </a:prstGeom>
          <a:solidFill>
            <a:srgbClr val="E5F8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3" name="T423"/>
          <p:cNvSpPr txBox="1"/>
          <p:nvPr/>
        </p:nvSpPr>
        <p:spPr>
          <a:xfrm>
            <a:off x="7061200" y="4648200"/>
            <a:ext cx="3454400" cy="762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r>
              <a:rPr lang="en-US" sz="1300" dirty="0">
                <a:solidFill>
                  <a:srgbClr val="2A2540"/>
                </a:solidFill>
              </a:rPr>
              <a:t>Dropped at ingest — carries no signal.</a:t>
            </a:r>
          </a:p>
        </p:txBody>
      </p:sp>
      <p:sp>
        <p:nvSpPr>
          <p:cNvPr id="424" name="R424"/>
          <p:cNvSpPr/>
          <p:nvPr/>
        </p:nvSpPr>
        <p:spPr>
          <a:xfrm>
            <a:off x="1524000" y="5613400"/>
            <a:ext cx="4508500" cy="99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5" name="R425"/>
          <p:cNvSpPr/>
          <p:nvPr/>
        </p:nvSpPr>
        <p:spPr>
          <a:xfrm>
            <a:off x="1524000" y="5613400"/>
            <a:ext cx="63500" cy="990600"/>
          </a:xfrm>
          <a:prstGeom prst="rect">
            <a:avLst/>
          </a:prstGeom>
          <a:solidFill>
            <a:srgbClr val="FF5C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6" name="T426"/>
          <p:cNvSpPr txBox="1"/>
          <p:nvPr/>
        </p:nvSpPr>
        <p:spPr>
          <a:xfrm>
            <a:off x="1752600" y="57404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600" b="1" dirty="0">
                <a:solidFill>
                  <a:srgbClr val="12101A"/>
                </a:solidFill>
              </a:rPr>
              <a:t>Label inconsistency</a:t>
            </a:r>
          </a:p>
        </p:txBody>
      </p:sp>
      <p:sp>
        <p:nvSpPr>
          <p:cNvPr id="427" name="T427"/>
          <p:cNvSpPr txBox="1"/>
          <p:nvPr/>
        </p:nvSpPr>
        <p:spPr>
          <a:xfrm>
            <a:off x="1752600" y="60325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r>
              <a:rPr lang="en-US" sz="1300" dirty="0">
                <a:solidFill>
                  <a:srgbClr val="2A2540"/>
                </a:solidFill>
              </a:rPr>
              <a:t>main_category = live store label, not the partition; casing variants in store/categories.</a:t>
            </a:r>
          </a:p>
        </p:txBody>
      </p:sp>
      <p:sp>
        <p:nvSpPr>
          <p:cNvPr id="428" name="T428"/>
          <p:cNvSpPr txBox="1"/>
          <p:nvPr/>
        </p:nvSpPr>
        <p:spPr>
          <a:xfrm>
            <a:off x="6070600" y="5905500"/>
            <a:ext cx="736600" cy="406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2000" b="1" dirty="0">
                <a:solidFill>
                  <a:srgbClr val="6C3BFF"/>
                </a:solidFill>
              </a:rPr>
              <a:t>→</a:t>
            </a:r>
          </a:p>
        </p:txBody>
      </p:sp>
      <p:sp>
        <p:nvSpPr>
          <p:cNvPr id="429" name="R429"/>
          <p:cNvSpPr/>
          <p:nvPr/>
        </p:nvSpPr>
        <p:spPr>
          <a:xfrm>
            <a:off x="6858000" y="5613400"/>
            <a:ext cx="3810000" cy="990600"/>
          </a:xfrm>
          <a:prstGeom prst="roundRect">
            <a:avLst>
              <a:gd name="adj" fmla="val 6000"/>
            </a:avLst>
          </a:prstGeom>
          <a:solidFill>
            <a:srgbClr val="E5F8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0" name="T430"/>
          <p:cNvSpPr txBox="1"/>
          <p:nvPr/>
        </p:nvSpPr>
        <p:spPr>
          <a:xfrm>
            <a:off x="7061200" y="5740400"/>
            <a:ext cx="3454400" cy="762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1450"/>
              </a:lnSpc>
            </a:pPr>
            <a:r>
              <a:rPr lang="en-US" sz="1300" dirty="0">
                <a:solidFill>
                  <a:srgbClr val="2A2540"/>
                </a:solidFill>
              </a:rPr>
              <a:t>Stamp source_vertical from file-of-origin; lower-case &amp; whitespace-collapse categoricals.</a:t>
            </a:r>
          </a:p>
        </p:txBody>
      </p:sp>
    </p:spTree>
    <p:extLst>
      <p:ext uri="{BB962C8B-B14F-4D97-AF65-F5344CB8AC3E}">
        <p14:creationId xmlns:p14="http://schemas.microsoft.com/office/powerpoint/2010/main" val="307675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55913-B6B9-C4CF-884E-5D6D09015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000" b="1" dirty="0">
                <a:solidFill>
                  <a:srgbClr val="00C2A8"/>
                </a:solidFill>
              </a:rPr>
              <a:t>→ TO THE NOTEBOOK</a:t>
            </a:r>
          </a:p>
          <a:p>
            <a:pPr>
              <a:buNone/>
            </a:pPr>
            <a:r>
              <a:rPr lang="en-US" dirty="0"/>
              <a:t>Full EDA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3F263-D268-D781-2F25-AA2E0FB1F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6163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4A1E0-45D1-FC6B-3761-D986E7D4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000" b="1" dirty="0">
                <a:solidFill>
                  <a:srgbClr val="6C3BFF"/>
                </a:solidFill>
              </a:rPr>
              <a:t>02</a:t>
            </a:r>
          </a:p>
          <a:p>
            <a:pPr>
              <a:buNone/>
            </a:pPr>
            <a:r>
              <a:rPr lang="en-US" dirty="0"/>
              <a:t>Model &amp;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DF83A-F0FE-5600-FABE-3306077A9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600" dirty="0">
                <a:solidFill>
                  <a:schemeClr val="tx2"/>
                </a:solidFill>
              </a:rPr>
              <a:t>The EMCDR shared latent space, the baselines it beats, and where it still falls short.</a:t>
            </a:r>
          </a:p>
        </p:txBody>
      </p:sp>
    </p:spTree>
    <p:extLst>
      <p:ext uri="{BB962C8B-B14F-4D97-AF65-F5344CB8AC3E}">
        <p14:creationId xmlns:p14="http://schemas.microsoft.com/office/powerpoint/2010/main" val="4108708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ADC1-0E06-F17E-9A0B-DC64D22F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solution: EMCDR shared latent space</a:t>
            </a:r>
            <a:endParaRPr lang="en-IL"/>
          </a:p>
        </p:txBody>
      </p:sp>
      <p:sp>
        <p:nvSpPr>
          <p:cNvPr id="501" name="C501"/>
          <p:cNvSpPr/>
          <p:nvPr/>
        </p:nvSpPr>
        <p:spPr>
          <a:xfrm>
            <a:off x="1524000" y="2133600"/>
            <a:ext cx="2946400" cy="1879600"/>
          </a:xfrm>
          <a:prstGeom prst="roundRect">
            <a:avLst>
              <a:gd name="adj" fmla="val 7000"/>
            </a:avLst>
          </a:prstGeom>
          <a:solidFill>
            <a:srgbClr val="EDEA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" name="B502"/>
          <p:cNvSpPr/>
          <p:nvPr/>
        </p:nvSpPr>
        <p:spPr>
          <a:xfrm>
            <a:off x="1727200" y="2336800"/>
            <a:ext cx="431800" cy="431800"/>
          </a:xfrm>
          <a:prstGeom prst="ellipse">
            <a:avLst/>
          </a:prstGeom>
          <a:solidFill>
            <a:srgbClr val="6C3BF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03" name="T503"/>
          <p:cNvSpPr txBox="1"/>
          <p:nvPr/>
        </p:nvSpPr>
        <p:spPr>
          <a:xfrm>
            <a:off x="1727200" y="28956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600" b="1" dirty="0">
                <a:solidFill>
                  <a:srgbClr val="12101A"/>
                </a:solidFill>
              </a:rPr>
              <a:t>Source embeddings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1727200" y="3251200"/>
            <a:ext cx="2540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</a:pPr>
            <a:r>
              <a:rPr lang="en-US" sz="1300" dirty="0">
                <a:solidFill>
                  <a:srgbClr val="2A2540"/>
                </a:solidFill>
              </a:rPr>
              <a:t>Learn user &amp; item vectors on the source vertical, where the user has history.</a:t>
            </a:r>
          </a:p>
        </p:txBody>
      </p:sp>
      <p:sp>
        <p:nvSpPr>
          <p:cNvPr id="505" name="C505"/>
          <p:cNvSpPr/>
          <p:nvPr/>
        </p:nvSpPr>
        <p:spPr>
          <a:xfrm>
            <a:off x="5130800" y="2133600"/>
            <a:ext cx="2946400" cy="1879600"/>
          </a:xfrm>
          <a:prstGeom prst="roundRect">
            <a:avLst>
              <a:gd name="adj" fmla="val 7000"/>
            </a:avLst>
          </a:prstGeom>
          <a:solidFill>
            <a:srgbClr val="EDEA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" name="B506"/>
          <p:cNvSpPr/>
          <p:nvPr/>
        </p:nvSpPr>
        <p:spPr>
          <a:xfrm>
            <a:off x="5334000" y="2336800"/>
            <a:ext cx="431800" cy="431800"/>
          </a:xfrm>
          <a:prstGeom prst="ellipse">
            <a:avLst/>
          </a:prstGeom>
          <a:solidFill>
            <a:srgbClr val="C72A4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07" name="T507"/>
          <p:cNvSpPr txBox="1"/>
          <p:nvPr/>
        </p:nvSpPr>
        <p:spPr>
          <a:xfrm>
            <a:off x="5334000" y="28956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600" b="1" dirty="0">
                <a:solidFill>
                  <a:srgbClr val="12101A"/>
                </a:solidFill>
              </a:rPr>
              <a:t>Target embeddings</a:t>
            </a:r>
          </a:p>
        </p:txBody>
      </p:sp>
      <p:sp>
        <p:nvSpPr>
          <p:cNvPr id="508" name="T508"/>
          <p:cNvSpPr txBox="1"/>
          <p:nvPr/>
        </p:nvSpPr>
        <p:spPr>
          <a:xfrm>
            <a:off x="5334000" y="3251200"/>
            <a:ext cx="2540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</a:pPr>
            <a:r>
              <a:rPr lang="en-US" sz="1300" dirty="0">
                <a:solidFill>
                  <a:srgbClr val="2A2540"/>
                </a:solidFill>
              </a:rPr>
              <a:t>Learn user &amp; item vectors on the target vertical, where we want to recommend.</a:t>
            </a:r>
          </a:p>
        </p:txBody>
      </p:sp>
      <p:sp>
        <p:nvSpPr>
          <p:cNvPr id="509" name="C509"/>
          <p:cNvSpPr/>
          <p:nvPr/>
        </p:nvSpPr>
        <p:spPr>
          <a:xfrm>
            <a:off x="8737600" y="2133600"/>
            <a:ext cx="2946400" cy="1879600"/>
          </a:xfrm>
          <a:prstGeom prst="roundRect">
            <a:avLst>
              <a:gd name="adj" fmla="val 7000"/>
            </a:avLst>
          </a:prstGeom>
          <a:solidFill>
            <a:srgbClr val="E5F8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0" name="B510"/>
          <p:cNvSpPr/>
          <p:nvPr/>
        </p:nvSpPr>
        <p:spPr>
          <a:xfrm>
            <a:off x="8940800" y="2336800"/>
            <a:ext cx="431800" cy="431800"/>
          </a:xfrm>
          <a:prstGeom prst="ellipse">
            <a:avLst/>
          </a:prstGeom>
          <a:solidFill>
            <a:srgbClr val="067A6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11" name="T511"/>
          <p:cNvSpPr txBox="1"/>
          <p:nvPr/>
        </p:nvSpPr>
        <p:spPr>
          <a:xfrm>
            <a:off x="8940800" y="28956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600" b="1" dirty="0">
                <a:solidFill>
                  <a:srgbClr val="12101A"/>
                </a:solidFill>
              </a:rPr>
              <a:t>Mapping function</a:t>
            </a:r>
          </a:p>
        </p:txBody>
      </p:sp>
      <p:sp>
        <p:nvSpPr>
          <p:cNvPr id="512" name="T512"/>
          <p:cNvSpPr txBox="1"/>
          <p:nvPr/>
        </p:nvSpPr>
        <p:spPr>
          <a:xfrm>
            <a:off x="8940800" y="3251200"/>
            <a:ext cx="2540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</a:pPr>
            <a:r>
              <a:rPr lang="en-US" sz="1300" dirty="0">
                <a:solidFill>
                  <a:srgbClr val="2A2540"/>
                </a:solidFill>
              </a:rPr>
              <a:t>Learns to map a source-user vector to its target-vector. Trained on shared users.</a:t>
            </a:r>
          </a:p>
        </p:txBody>
      </p:sp>
      <p:sp>
        <p:nvSpPr>
          <p:cNvPr id="513" name="A513"/>
          <p:cNvSpPr/>
          <p:nvPr/>
        </p:nvSpPr>
        <p:spPr>
          <a:xfrm>
            <a:off x="4521200" y="2819400"/>
            <a:ext cx="406400" cy="508000"/>
          </a:xfrm>
          <a:prstGeom prst="rightArrow">
            <a:avLst/>
          </a:prstGeom>
          <a:solidFill>
            <a:srgbClr val="6C3B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4" name="A514"/>
          <p:cNvSpPr/>
          <p:nvPr/>
        </p:nvSpPr>
        <p:spPr>
          <a:xfrm>
            <a:off x="8128000" y="2819400"/>
            <a:ext cx="406400" cy="508000"/>
          </a:xfrm>
          <a:prstGeom prst="rightArrow">
            <a:avLst/>
          </a:prstGeom>
          <a:solidFill>
            <a:srgbClr val="FF5C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5" name="C515"/>
          <p:cNvSpPr/>
          <p:nvPr/>
        </p:nvSpPr>
        <p:spPr>
          <a:xfrm>
            <a:off x="1524000" y="4419600"/>
            <a:ext cx="10160000" cy="66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6C3B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6" name="T516"/>
          <p:cNvSpPr txBox="1"/>
          <p:nvPr/>
        </p:nvSpPr>
        <p:spPr>
          <a:xfrm>
            <a:off x="1778000" y="4521200"/>
            <a:ext cx="965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00"/>
              </a:lnSpc>
            </a:pPr>
            <a:r>
              <a:rPr lang="en-US" sz="1350" b="1" dirty="0">
                <a:solidFill>
                  <a:srgbClr val="6C3BFF"/>
                </a:solidFill>
              </a:rPr>
              <a:t>At recommendation time:  </a:t>
            </a:r>
            <a:r>
              <a:rPr lang="en-US" sz="1350" dirty="0">
                <a:solidFill>
                  <a:srgbClr val="12101A"/>
                </a:solidFill>
              </a:rPr>
              <a:t>a cold user's source vector → through the mapping → rank target-vertical items by match. The content bridge is item text + taxonomy.</a:t>
            </a:r>
          </a:p>
        </p:txBody>
      </p:sp>
      <p:sp>
        <p:nvSpPr>
          <p:cNvPr id="517" name="T517"/>
          <p:cNvSpPr txBox="1"/>
          <p:nvPr/>
        </p:nvSpPr>
        <p:spPr>
          <a:xfrm>
            <a:off x="1524000" y="5207000"/>
            <a:ext cx="1016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50" i="1" dirty="0">
                <a:solidFill>
                  <a:srgbClr val="6C3BFF"/>
                </a:solidFill>
              </a:rPr>
              <a:t>Evaluated head-to-head vs. a single-vertical MF / NCF baseline on Recall@K and NDCG@K across 8 viable pairs.</a:t>
            </a:r>
          </a:p>
        </p:txBody>
      </p:sp>
    </p:spTree>
    <p:extLst>
      <p:ext uri="{BB962C8B-B14F-4D97-AF65-F5344CB8AC3E}">
        <p14:creationId xmlns:p14="http://schemas.microsoft.com/office/powerpoint/2010/main" val="3252378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ADC1-0E06-F17E-9A0B-DC64D22F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en-US" sz="2000" b="1" dirty="0">
                <a:solidFill>
                  <a:srgbClr val="6C3BFF"/>
                </a:solidFill>
              </a:rPr>
              <a:t>STAGE 1</a:t>
            </a:r>
          </a:p>
          <a:p>
            <a:pPr>
              <a:buNone/>
            </a:pPr>
            <a:r>
              <a:rPr lang="en-US" dirty="0"/>
              <a:t>A hybrid two-tower recommender, per vertical</a:t>
            </a:r>
          </a:p>
        </p:txBody>
      </p:sp>
      <p:sp>
        <p:nvSpPr>
          <p:cNvPr id="600" name="N600"/>
          <p:cNvSpPr/>
          <p:nvPr/>
        </p:nvSpPr>
        <p:spPr>
          <a:xfrm>
            <a:off x="1016000" y="1905000"/>
            <a:ext cx="3810000" cy="3175000"/>
          </a:xfrm>
          <a:prstGeom prst="roundRect">
            <a:avLst>
              <a:gd name="adj" fmla="val 6000"/>
            </a:avLst>
          </a:prstGeom>
          <a:solidFill>
            <a:srgbClr val="EDEAF7"/>
          </a:solidFill>
          <a:ln w="12700">
            <a:solidFill>
              <a:srgbClr val="D9D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1" name="N601"/>
          <p:cNvSpPr/>
          <p:nvPr/>
        </p:nvSpPr>
        <p:spPr>
          <a:xfrm>
            <a:off x="1016000" y="2032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6C3BFF"/>
                </a:solidFill>
              </a:rPr>
              <a:t>USER TOWER</a:t>
            </a:r>
          </a:p>
        </p:txBody>
      </p:sp>
      <p:sp>
        <p:nvSpPr>
          <p:cNvPr id="602" name="N602"/>
          <p:cNvSpPr/>
          <p:nvPr/>
        </p:nvSpPr>
        <p:spPr>
          <a:xfrm>
            <a:off x="1397000" y="2692400"/>
            <a:ext cx="3048000" cy="76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D2F2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12101A"/>
                </a:solidFill>
              </a:rPr>
              <a:t>user_emb[ u ]</a:t>
            </a:r>
          </a:p>
        </p:txBody>
      </p:sp>
      <p:sp>
        <p:nvSpPr>
          <p:cNvPr id="603" name="N603"/>
          <p:cNvSpPr/>
          <p:nvPr/>
        </p:nvSpPr>
        <p:spPr>
          <a:xfrm>
            <a:off x="1397000" y="35560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150" b="0" i="1" dirty="0">
                <a:solidFill>
                  <a:srgbClr val="6E6A7C"/>
                </a:solidFill>
              </a:rPr>
              <a:t>a plain learned lookup table</a:t>
            </a:r>
          </a:p>
        </p:txBody>
      </p:sp>
      <p:sp>
        <p:nvSpPr>
          <p:cNvPr id="604" name="N604"/>
          <p:cNvSpPr/>
          <p:nvPr/>
        </p:nvSpPr>
        <p:spPr>
          <a:xfrm>
            <a:off x="2819400" y="3911600"/>
            <a:ext cx="203200" cy="381000"/>
          </a:xfrm>
          <a:prstGeom prst="downArrow">
            <a:avLst/>
          </a:prstGeom>
          <a:solidFill>
            <a:srgbClr val="B8AE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N605"/>
          <p:cNvSpPr/>
          <p:nvPr/>
        </p:nvSpPr>
        <p:spPr>
          <a:xfrm>
            <a:off x="1397000" y="4343400"/>
            <a:ext cx="3048000" cy="533400"/>
          </a:xfrm>
          <a:prstGeom prst="roundRect">
            <a:avLst>
              <a:gd name="adj" fmla="val 12000"/>
            </a:avLst>
          </a:prstGeom>
          <a:solidFill>
            <a:srgbClr val="6C3BFF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FFFFFF"/>
                </a:solidFill>
              </a:rPr>
              <a:t>user vector  (64-d)</a:t>
            </a:r>
          </a:p>
        </p:txBody>
      </p:sp>
      <p:sp>
        <p:nvSpPr>
          <p:cNvPr id="606" name="N606"/>
          <p:cNvSpPr/>
          <p:nvPr/>
        </p:nvSpPr>
        <p:spPr>
          <a:xfrm>
            <a:off x="6350000" y="1905000"/>
            <a:ext cx="4826000" cy="3175000"/>
          </a:xfrm>
          <a:prstGeom prst="roundRect">
            <a:avLst>
              <a:gd name="adj" fmla="val 6000"/>
            </a:avLst>
          </a:prstGeom>
          <a:solidFill>
            <a:srgbClr val="EDEAF7"/>
          </a:solidFill>
          <a:ln w="12700">
            <a:solidFill>
              <a:srgbClr val="CFE9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7" name="N607"/>
          <p:cNvSpPr/>
          <p:nvPr/>
        </p:nvSpPr>
        <p:spPr>
          <a:xfrm>
            <a:off x="6350000" y="2032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0C2A8"/>
                </a:solidFill>
              </a:rPr>
              <a:t>ITEM TOWER  (hybrid)</a:t>
            </a:r>
          </a:p>
        </p:txBody>
      </p:sp>
      <p:sp>
        <p:nvSpPr>
          <p:cNvPr id="608" name="N608"/>
          <p:cNvSpPr/>
          <p:nvPr/>
        </p:nvSpPr>
        <p:spPr>
          <a:xfrm>
            <a:off x="6604000" y="2489200"/>
            <a:ext cx="2921000" cy="35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9E3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en-US" sz="1200" b="1" i="0" dirty="0">
                <a:solidFill>
                  <a:srgbClr val="12101A"/>
                </a:solidFill>
              </a:rPr>
              <a:t>id_factor</a:t>
            </a:r>
          </a:p>
        </p:txBody>
      </p:sp>
      <p:sp>
        <p:nvSpPr>
          <p:cNvPr id="609" name="N609"/>
          <p:cNvSpPr/>
          <p:nvPr/>
        </p:nvSpPr>
        <p:spPr>
          <a:xfrm>
            <a:off x="9601200" y="2489200"/>
            <a:ext cx="1371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en-US" sz="1050" b="0" i="1" dirty="0">
                <a:solidFill>
                  <a:srgbClr val="6E6A7C"/>
                </a:solidFill>
              </a:rPr>
              <a:t>free per-item</a:t>
            </a:r>
          </a:p>
        </p:txBody>
      </p:sp>
      <p:sp>
        <p:nvSpPr>
          <p:cNvPr id="611" name="N611"/>
          <p:cNvSpPr/>
          <p:nvPr/>
        </p:nvSpPr>
        <p:spPr>
          <a:xfrm>
            <a:off x="6604000" y="3022600"/>
            <a:ext cx="2921000" cy="35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9E3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en-US" sz="1200" b="1" i="0" dirty="0">
                <a:solidFill>
                  <a:srgbClr val="12101A"/>
                </a:solidFill>
              </a:rPr>
              <a:t>text_proj</a:t>
            </a:r>
          </a:p>
        </p:txBody>
      </p:sp>
      <p:sp>
        <p:nvSpPr>
          <p:cNvPr id="612" name="N612"/>
          <p:cNvSpPr/>
          <p:nvPr/>
        </p:nvSpPr>
        <p:spPr>
          <a:xfrm>
            <a:off x="9601200" y="3022600"/>
            <a:ext cx="1371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en-US" sz="1050" b="0" i="1" dirty="0">
                <a:solidFill>
                  <a:srgbClr val="6E6A7C"/>
                </a:solidFill>
              </a:rPr>
              <a:t>MiniLM 384→64</a:t>
            </a:r>
          </a:p>
        </p:txBody>
      </p:sp>
      <p:sp>
        <p:nvSpPr>
          <p:cNvPr id="614" name="N614"/>
          <p:cNvSpPr/>
          <p:nvPr/>
        </p:nvSpPr>
        <p:spPr>
          <a:xfrm>
            <a:off x="6604000" y="3556000"/>
            <a:ext cx="2921000" cy="35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9E3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en-US" sz="1200" b="1" i="0" dirty="0">
                <a:solidFill>
                  <a:srgbClr val="12101A"/>
                </a:solidFill>
              </a:rPr>
              <a:t>cat_bag</a:t>
            </a:r>
          </a:p>
        </p:txBody>
      </p:sp>
      <p:sp>
        <p:nvSpPr>
          <p:cNvPr id="615" name="N615"/>
          <p:cNvSpPr/>
          <p:nvPr/>
        </p:nvSpPr>
        <p:spPr>
          <a:xfrm>
            <a:off x="9601200" y="3556000"/>
            <a:ext cx="1371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en-US" sz="1050" b="0" i="1" dirty="0">
                <a:solidFill>
                  <a:srgbClr val="6E6A7C"/>
                </a:solidFill>
              </a:rPr>
              <a:t>category vectors</a:t>
            </a:r>
          </a:p>
        </p:txBody>
      </p:sp>
      <p:sp>
        <p:nvSpPr>
          <p:cNvPr id="617" name="N617"/>
          <p:cNvSpPr/>
          <p:nvPr/>
        </p:nvSpPr>
        <p:spPr>
          <a:xfrm>
            <a:off x="6604000" y="4089400"/>
            <a:ext cx="2921000" cy="35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9E3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en-US" sz="1200" b="1" i="0" dirty="0">
                <a:solidFill>
                  <a:srgbClr val="12101A"/>
                </a:solidFill>
              </a:rPr>
              <a:t>pop_proj</a:t>
            </a:r>
          </a:p>
        </p:txBody>
      </p:sp>
      <p:sp>
        <p:nvSpPr>
          <p:cNvPr id="618" name="N618"/>
          <p:cNvSpPr/>
          <p:nvPr/>
        </p:nvSpPr>
        <p:spPr>
          <a:xfrm>
            <a:off x="9601200" y="4089400"/>
            <a:ext cx="1371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en-US" sz="1050" b="0" i="1" dirty="0">
                <a:solidFill>
                  <a:srgbClr val="6E6A7C"/>
                </a:solidFill>
              </a:rPr>
              <a:t>popularity 2→64</a:t>
            </a:r>
          </a:p>
        </p:txBody>
      </p:sp>
      <p:sp>
        <p:nvSpPr>
          <p:cNvPr id="619" name="N619"/>
          <p:cNvSpPr/>
          <p:nvPr/>
        </p:nvSpPr>
        <p:spPr>
          <a:xfrm>
            <a:off x="1016000" y="5308600"/>
            <a:ext cx="10160000" cy="939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C3B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0" name="N620"/>
          <p:cNvSpPr/>
          <p:nvPr/>
        </p:nvSpPr>
        <p:spPr>
          <a:xfrm>
            <a:off x="1219200" y="5308600"/>
            <a:ext cx="9753600" cy="939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50" b="0" i="0" dirty="0">
                <a:solidFill>
                  <a:srgbClr val="12101A"/>
                </a:solidFill>
              </a:rPr>
              <a:t>score(u, i)  =  user vector  ·  item vector — trained with BPR; loss that pushes a real item's score above a random unseen one</a:t>
            </a: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2D1BD31F-00F0-A74A-8C8B-1EE8B3FBEBDC}"/>
              </a:ext>
            </a:extLst>
          </p:cNvPr>
          <p:cNvSpPr/>
          <p:nvPr/>
        </p:nvSpPr>
        <p:spPr>
          <a:xfrm>
            <a:off x="7962900" y="4457700"/>
            <a:ext cx="203200" cy="177800"/>
          </a:xfrm>
          <a:prstGeom prst="downArrow">
            <a:avLst/>
          </a:prstGeom>
          <a:solidFill>
            <a:srgbClr val="00C2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L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6E5911F-187F-4541-80FC-65E89B3F09DF}"/>
              </a:ext>
            </a:extLst>
          </p:cNvPr>
          <p:cNvSpPr/>
          <p:nvPr/>
        </p:nvSpPr>
        <p:spPr>
          <a:xfrm>
            <a:off x="6604000" y="4673600"/>
            <a:ext cx="4368800" cy="355600"/>
          </a:xfrm>
          <a:prstGeom prst="roundRect">
            <a:avLst/>
          </a:prstGeom>
          <a:solidFill>
            <a:srgbClr val="00C2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item vector  (64-d)</a:t>
            </a:r>
            <a:endParaRPr lang="en-IL" sz="1300" b="1">
              <a:solidFill>
                <a:srgbClr val="FFFFFF"/>
              </a:solidFill>
            </a:endParaRPr>
          </a:p>
        </p:txBody>
      </p:sp>
      <p:sp>
        <p:nvSpPr>
          <p:cNvPr id="610" name="N610"/>
          <p:cNvSpPr/>
          <p:nvPr/>
        </p:nvSpPr>
        <p:spPr>
          <a:xfrm>
            <a:off x="7861300" y="2794000"/>
            <a:ext cx="406400" cy="279400"/>
          </a:xfrm>
          <a:prstGeom prst="rect">
            <a:avLst/>
          </a:prstGeom>
          <a:noFill/>
          <a:ln>
            <a:noFill/>
          </a:ln>
        </p:spPr>
        <p:txBody>
          <a:bodyPr wrap="none" lIns="45720" tIns="27432" rIns="45720" bIns="27432" anchor="ctr" anchorCtr="0">
            <a:noAutofit/>
          </a:bodyPr>
          <a:lstStyle/>
          <a:p>
            <a:pPr algn="ctr"/>
            <a:r>
              <a:rPr lang="en-US" b="1" i="0" dirty="0">
                <a:solidFill>
                  <a:srgbClr val="00C2A8"/>
                </a:solidFill>
              </a:rPr>
              <a:t>+</a:t>
            </a:r>
          </a:p>
        </p:txBody>
      </p:sp>
      <p:sp>
        <p:nvSpPr>
          <p:cNvPr id="613" name="N613"/>
          <p:cNvSpPr/>
          <p:nvPr/>
        </p:nvSpPr>
        <p:spPr>
          <a:xfrm>
            <a:off x="7861300" y="3327400"/>
            <a:ext cx="406400" cy="279400"/>
          </a:xfrm>
          <a:prstGeom prst="rect">
            <a:avLst/>
          </a:prstGeom>
          <a:noFill/>
          <a:ln>
            <a:noFill/>
          </a:ln>
        </p:spPr>
        <p:txBody>
          <a:bodyPr wrap="none" lIns="45720" tIns="27432" rIns="45720" bIns="27432" anchor="ctr" anchorCtr="0">
            <a:noAutofit/>
          </a:bodyPr>
          <a:lstStyle/>
          <a:p>
            <a:pPr algn="ctr"/>
            <a:r>
              <a:rPr lang="en-US" b="1" i="0" dirty="0">
                <a:solidFill>
                  <a:srgbClr val="00C2A8"/>
                </a:solidFill>
              </a:rPr>
              <a:t>+</a:t>
            </a:r>
          </a:p>
        </p:txBody>
      </p:sp>
      <p:sp>
        <p:nvSpPr>
          <p:cNvPr id="616" name="N616"/>
          <p:cNvSpPr/>
          <p:nvPr/>
        </p:nvSpPr>
        <p:spPr>
          <a:xfrm>
            <a:off x="7861300" y="3860800"/>
            <a:ext cx="406400" cy="279400"/>
          </a:xfrm>
          <a:prstGeom prst="rect">
            <a:avLst/>
          </a:prstGeom>
          <a:noFill/>
          <a:ln>
            <a:noFill/>
          </a:ln>
        </p:spPr>
        <p:txBody>
          <a:bodyPr wrap="none" lIns="45720" tIns="27432" rIns="45720" bIns="27432" anchor="ctr" anchorCtr="0">
            <a:noAutofit/>
          </a:bodyPr>
          <a:lstStyle/>
          <a:p>
            <a:pPr algn="ctr"/>
            <a:r>
              <a:rPr lang="en-US" b="1" i="0" dirty="0">
                <a:solidFill>
                  <a:srgbClr val="00C2A8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646129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ADC1-0E06-F17E-9A0B-DC64D22F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en-US" sz="1400" b="1" dirty="0">
                <a:solidFill>
                  <a:srgbClr val="6C3BFF"/>
                </a:solidFill>
              </a:rPr>
              <a:t>STAGE 2</a:t>
            </a:r>
          </a:p>
          <a:p>
            <a:pPr>
              <a:buNone/>
            </a:pPr>
            <a:r>
              <a:rPr lang="en-US" dirty="0"/>
              <a:t>One small linear map translates source taste into the target space</a:t>
            </a:r>
          </a:p>
        </p:txBody>
      </p:sp>
      <p:sp>
        <p:nvSpPr>
          <p:cNvPr id="600" name="l600"/>
          <p:cNvSpPr/>
          <p:nvPr/>
        </p:nvSpPr>
        <p:spPr>
          <a:xfrm>
            <a:off x="762000" y="1905000"/>
            <a:ext cx="3810000" cy="279400"/>
          </a:xfrm>
          <a:prstGeom prst="rect">
            <a:avLst/>
          </a:prstGeom>
          <a:noFill/>
        </p:spPr>
        <p:txBody>
          <a:bodyPr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rgbClr val="6E6A7C"/>
                </a:solidFill>
              </a:rPr>
              <a:t>FROZEN INPUTS — overlap users only</a:t>
            </a:r>
          </a:p>
        </p:txBody>
      </p:sp>
      <p:sp>
        <p:nvSpPr>
          <p:cNvPr id="601" name="b601"/>
          <p:cNvSpPr/>
          <p:nvPr/>
        </p:nvSpPr>
        <p:spPr>
          <a:xfrm>
            <a:off x="762000" y="2286000"/>
            <a:ext cx="2921000" cy="1066800"/>
          </a:xfrm>
          <a:prstGeom prst="roundRect">
            <a:avLst>
              <a:gd name="adj" fmla="val 8"/>
            </a:avLst>
          </a:prstGeom>
          <a:solidFill>
            <a:srgbClr val="EDEAF7"/>
          </a:solidFill>
          <a:ln>
            <a:noFill/>
          </a:ln>
        </p:spPr>
        <p:txBody>
          <a:bodyPr lIns="73152" tIns="36576" rIns="73152" bIns="36576" rtlCol="0" anchor="ctr">
            <a:normAutofit/>
          </a:bodyPr>
          <a:lstStyle/>
          <a:p>
            <a:pPr algn="ctr">
              <a:buNone/>
            </a:pPr>
            <a:r>
              <a:rPr lang="en-US" sz="1600" b="1" i="0" dirty="0">
                <a:solidFill>
                  <a:srgbClr val="6C3BFF"/>
                </a:solidFill>
                <a:latin typeface="Consolas"/>
              </a:rPr>
              <a:t>U_src</a:t>
            </a:r>
          </a:p>
          <a:p>
            <a:pPr algn="ctr">
              <a:buNone/>
            </a:pPr>
            <a:r>
              <a:rPr lang="en-US" sz="1150" b="0" i="0" dirty="0">
                <a:solidFill>
                  <a:srgbClr val="2A2540"/>
                </a:solidFill>
              </a:rPr>
              <a:t>source user vectors</a:t>
            </a:r>
          </a:p>
        </p:txBody>
      </p:sp>
      <p:sp>
        <p:nvSpPr>
          <p:cNvPr id="602" name="b602"/>
          <p:cNvSpPr/>
          <p:nvPr/>
        </p:nvSpPr>
        <p:spPr>
          <a:xfrm>
            <a:off x="762000" y="3657600"/>
            <a:ext cx="2921000" cy="1066800"/>
          </a:xfrm>
          <a:prstGeom prst="roundRect">
            <a:avLst>
              <a:gd name="adj" fmla="val 8"/>
            </a:avLst>
          </a:prstGeom>
          <a:solidFill>
            <a:srgbClr val="EDEAF7"/>
          </a:solidFill>
          <a:ln>
            <a:noFill/>
          </a:ln>
        </p:spPr>
        <p:txBody>
          <a:bodyPr lIns="73152" tIns="36576" rIns="73152" bIns="36576" rtlCol="0" anchor="ctr">
            <a:normAutofit/>
          </a:bodyPr>
          <a:lstStyle/>
          <a:p>
            <a:pPr algn="ctr">
              <a:buNone/>
            </a:pPr>
            <a:r>
              <a:rPr lang="en-US" sz="1600" b="1" i="0" dirty="0">
                <a:solidFill>
                  <a:srgbClr val="00C2A8"/>
                </a:solidFill>
                <a:latin typeface="Consolas"/>
              </a:rPr>
              <a:t>U_tgt</a:t>
            </a:r>
          </a:p>
          <a:p>
            <a:pPr algn="ctr">
              <a:buNone/>
            </a:pPr>
            <a:r>
              <a:rPr lang="en-US" sz="1150" b="0" i="0" dirty="0">
                <a:solidFill>
                  <a:srgbClr val="2A2540"/>
                </a:solidFill>
              </a:rPr>
              <a:t>target user vectors</a:t>
            </a:r>
          </a:p>
        </p:txBody>
      </p:sp>
      <p:sp>
        <p:nvSpPr>
          <p:cNvPr id="603" name="l603"/>
          <p:cNvSpPr/>
          <p:nvPr/>
        </p:nvSpPr>
        <p:spPr>
          <a:xfrm>
            <a:off x="762000" y="4800600"/>
            <a:ext cx="2921000" cy="254000"/>
          </a:xfrm>
          <a:prstGeom prst="rect">
            <a:avLst/>
          </a:prstGeom>
          <a:noFill/>
        </p:spPr>
        <p:txBody>
          <a:bodyPr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000" b="0" i="1" dirty="0">
                <a:solidFill>
                  <a:srgbClr val="6E6A7C"/>
                </a:solidFill>
              </a:rPr>
              <a:t>both detached — gradients off</a:t>
            </a:r>
          </a:p>
        </p:txBody>
      </p:sp>
      <p:sp>
        <p:nvSpPr>
          <p:cNvPr id="604" name="a604"/>
          <p:cNvSpPr/>
          <p:nvPr/>
        </p:nvSpPr>
        <p:spPr>
          <a:xfrm>
            <a:off x="3810000" y="2667000"/>
            <a:ext cx="711200" cy="355600"/>
          </a:xfrm>
          <a:prstGeom prst="rightArrow">
            <a:avLst/>
          </a:prstGeom>
          <a:solidFill>
            <a:srgbClr val="6C3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" name="a605"/>
          <p:cNvSpPr/>
          <p:nvPr/>
        </p:nvSpPr>
        <p:spPr>
          <a:xfrm>
            <a:off x="3810000" y="4038600"/>
            <a:ext cx="711200" cy="355600"/>
          </a:xfrm>
          <a:prstGeom prst="rightArrow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" name="b606"/>
          <p:cNvSpPr/>
          <p:nvPr/>
        </p:nvSpPr>
        <p:spPr>
          <a:xfrm>
            <a:off x="4724400" y="2540000"/>
            <a:ext cx="2489200" cy="2184400"/>
          </a:xfrm>
          <a:prstGeom prst="roundRect">
            <a:avLst>
              <a:gd name="adj" fmla="val 12"/>
            </a:avLst>
          </a:prstGeom>
          <a:solidFill>
            <a:srgbClr val="6C3BFF"/>
          </a:solidFill>
          <a:ln>
            <a:noFill/>
          </a:ln>
        </p:spPr>
        <p:txBody>
          <a:bodyPr lIns="73152" tIns="36576" rIns="73152" bIns="36576" rtlCol="0" anchor="ctr">
            <a:normAutofit/>
          </a:bodyPr>
          <a:lstStyle/>
          <a:p>
            <a:pPr algn="ctr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f</a:t>
            </a:r>
          </a:p>
          <a:p>
            <a:pPr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onsolas"/>
              </a:rPr>
              <a:t>f(x) = W x + b</a:t>
            </a:r>
          </a:p>
          <a:p>
            <a:pPr algn="ctr">
              <a:buNone/>
            </a:pPr>
            <a:r>
              <a:rPr lang="en-US" sz="1050" b="0" i="0" dirty="0">
                <a:solidFill>
                  <a:srgbClr val="E7DEFF"/>
                </a:solidFill>
              </a:rPr>
              <a:t>one linear layer · ~4.2k params</a:t>
            </a:r>
          </a:p>
        </p:txBody>
      </p:sp>
      <p:sp>
        <p:nvSpPr>
          <p:cNvPr id="607" name="l607"/>
          <p:cNvSpPr/>
          <p:nvPr/>
        </p:nvSpPr>
        <p:spPr>
          <a:xfrm>
            <a:off x="4724400" y="4800600"/>
            <a:ext cx="2489200" cy="279400"/>
          </a:xfrm>
          <a:prstGeom prst="rect">
            <a:avLst/>
          </a:prstGeom>
          <a:noFill/>
        </p:spPr>
        <p:txBody>
          <a:bodyPr lIns="0" tIns="0" rIns="0" bIns="0" rtlCol="0" anchor="ctr">
            <a:norm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rgbClr val="6C3BFF"/>
                </a:solidFill>
              </a:rPr>
              <a:t>learns f(U_src) ≈ U_tgt</a:t>
            </a:r>
          </a:p>
        </p:txBody>
      </p:sp>
      <p:sp>
        <p:nvSpPr>
          <p:cNvPr id="608" name="a608"/>
          <p:cNvSpPr/>
          <p:nvPr/>
        </p:nvSpPr>
        <p:spPr>
          <a:xfrm>
            <a:off x="7340600" y="3454400"/>
            <a:ext cx="508000" cy="355600"/>
          </a:xfrm>
          <a:prstGeom prst="rightArrow">
            <a:avLst/>
          </a:prstGeom>
          <a:solidFill>
            <a:srgbClr val="6E6A7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9" name="b609"/>
          <p:cNvSpPr/>
          <p:nvPr/>
        </p:nvSpPr>
        <p:spPr>
          <a:xfrm>
            <a:off x="7975600" y="2286000"/>
            <a:ext cx="3454400" cy="27940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2700">
            <a:solidFill>
              <a:srgbClr val="E3DEF5"/>
            </a:solidFill>
          </a:ln>
        </p:spPr>
        <p:txBody>
          <a:bodyPr lIns="73152" tIns="36576" rIns="73152" bIns="36576" rtlCol="0" anchor="ctr">
            <a:normAutofit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610" name="l610"/>
          <p:cNvSpPr/>
          <p:nvPr/>
        </p:nvSpPr>
        <p:spPr>
          <a:xfrm>
            <a:off x="8229600" y="2489200"/>
            <a:ext cx="2997200" cy="304800"/>
          </a:xfrm>
          <a:prstGeom prst="rect">
            <a:avLst/>
          </a:prstGeom>
          <a:noFill/>
        </p:spPr>
        <p:txBody>
          <a:bodyPr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i="0" dirty="0">
                <a:solidFill>
                  <a:srgbClr val="FF6B6B"/>
                </a:solidFill>
              </a:rPr>
              <a:t>WHY LINEAR, NOT DEEP</a:t>
            </a:r>
          </a:p>
        </p:txBody>
      </p:sp>
      <p:sp>
        <p:nvSpPr>
          <p:cNvPr id="611" name="l611"/>
          <p:cNvSpPr/>
          <p:nvPr/>
        </p:nvSpPr>
        <p:spPr>
          <a:xfrm>
            <a:off x="8229600" y="2844800"/>
            <a:ext cx="2997200" cy="2032000"/>
          </a:xfrm>
          <a:prstGeom prst="rect">
            <a:avLst/>
          </a:prstGeom>
          <a:noFill/>
        </p:spPr>
        <p:txBody>
          <a:bodyPr lIns="0" tIns="0" rIns="0" bIns="0" rtlCol="0" anchor="t" anchorCtr="0">
            <a:normAutofit/>
          </a:bodyPr>
          <a:lstStyle/>
          <a:p>
            <a:pPr algn="l">
              <a:buNone/>
            </a:pPr>
            <a:r>
              <a:rPr lang="en-US" sz="1250" b="0" i="0" dirty="0">
                <a:solidFill>
                  <a:srgbClr val="2A2540"/>
                </a:solidFill>
              </a:rPr>
              <a:t>Supervised on only ~10k–100k overlap users, such that a deep MLP overfits.</a:t>
            </a:r>
            <a:br>
              <a:rPr lang="en-US" sz="1250" b="0" i="0" dirty="0">
                <a:solidFill>
                  <a:srgbClr val="2A2540"/>
                </a:solidFill>
              </a:rPr>
            </a:br>
            <a:endParaRPr lang="en-US" sz="1250" b="0" i="0" dirty="0">
              <a:solidFill>
                <a:srgbClr val="2A2540"/>
              </a:solidFill>
            </a:endParaRPr>
          </a:p>
          <a:p>
            <a:pPr algn="l">
              <a:buNone/>
            </a:pPr>
            <a:r>
              <a:rPr lang="en-US" sz="1250" b="0" i="0" dirty="0">
                <a:solidFill>
                  <a:srgbClr val="2A2540"/>
                </a:solidFill>
              </a:rPr>
              <a:t>A small, regularized linear map generalizes better and is never materially worse on rich pairs.</a:t>
            </a:r>
          </a:p>
        </p:txBody>
      </p:sp>
      <p:sp>
        <p:nvSpPr>
          <p:cNvPr id="612" name="b612"/>
          <p:cNvSpPr/>
          <p:nvPr/>
        </p:nvSpPr>
        <p:spPr>
          <a:xfrm>
            <a:off x="762000" y="5334000"/>
            <a:ext cx="10668000" cy="914400"/>
          </a:xfrm>
          <a:prstGeom prst="roundRect">
            <a:avLst>
              <a:gd name="adj" fmla="val 8"/>
            </a:avLst>
          </a:prstGeom>
          <a:solidFill>
            <a:srgbClr val="FFFFFF"/>
          </a:solidFill>
          <a:ln w="19050">
            <a:solidFill>
              <a:srgbClr val="6C3BFF"/>
            </a:solidFill>
          </a:ln>
        </p:spPr>
        <p:txBody>
          <a:bodyPr lIns="73152" tIns="36576" rIns="73152" bIns="36576" rtlCol="0" anchor="ctr">
            <a:normAutofit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613" name="l613"/>
          <p:cNvSpPr/>
          <p:nvPr/>
        </p:nvSpPr>
        <p:spPr>
          <a:xfrm>
            <a:off x="1066800" y="5486400"/>
            <a:ext cx="10058400" cy="609600"/>
          </a:xfrm>
          <a:prstGeom prst="rect">
            <a:avLst/>
          </a:prstGeom>
          <a:noFill/>
        </p:spPr>
        <p:txBody>
          <a:bodyPr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300" b="1" i="0" dirty="0">
                <a:solidFill>
                  <a:srgbClr val="12101A"/>
                </a:solidFill>
              </a:rPr>
              <a:t>Train on 80% of overlap users · hold out 20% as the cold-eval cohort f never sees.</a:t>
            </a:r>
          </a:p>
        </p:txBody>
      </p:sp>
    </p:spTree>
    <p:extLst>
      <p:ext uri="{BB962C8B-B14F-4D97-AF65-F5344CB8AC3E}">
        <p14:creationId xmlns:p14="http://schemas.microsoft.com/office/powerpoint/2010/main" val="2017471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ADC1-0E06-F17E-9A0B-DC64D22F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en-US" sz="1400" b="1" dirty="0">
                <a:solidFill>
                  <a:srgbClr val="6C3BFF"/>
                </a:solidFill>
              </a:rPr>
              <a:t>STAGE 3</a:t>
            </a:r>
          </a:p>
          <a:p>
            <a:pPr>
              <a:buNone/>
            </a:pPr>
            <a:r>
              <a:rPr lang="en-US" dirty="0"/>
              <a:t>Cold-start inference, then how we measure it</a:t>
            </a:r>
          </a:p>
        </p:txBody>
      </p:sp>
      <p:sp>
        <p:nvSpPr>
          <p:cNvPr id="600" name="t600"/>
          <p:cNvSpPr/>
          <p:nvPr/>
        </p:nvSpPr>
        <p:spPr>
          <a:xfrm>
            <a:off x="762000" y="1854200"/>
            <a:ext cx="5842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250" b="1" dirty="0">
                <a:solidFill>
                  <a:srgbClr val="6C3BFF"/>
                </a:solidFill>
              </a:rPr>
              <a:t>INFERENCE  ·  RANK FOR A COLD USER</a:t>
            </a:r>
          </a:p>
        </p:txBody>
      </p:sp>
      <p:sp>
        <p:nvSpPr>
          <p:cNvPr id="601" name="b601"/>
          <p:cNvSpPr/>
          <p:nvPr/>
        </p:nvSpPr>
        <p:spPr>
          <a:xfrm>
            <a:off x="762000" y="2235200"/>
            <a:ext cx="1625600" cy="914400"/>
          </a:xfrm>
          <a:prstGeom prst="roundRect">
            <a:avLst>
              <a:gd name="adj" fmla="val 16000"/>
            </a:avLst>
          </a:prstGeom>
          <a:solidFill>
            <a:srgbClr val="EDEAF7"/>
          </a:solidFill>
          <a:ln>
            <a:noFill/>
          </a:ln>
        </p:spPr>
        <p:txBody>
          <a:bodyPr lIns="76200" tIns="25400" rIns="76200" bIns="25400" rtlCol="0" anchor="ctr"/>
          <a:lstStyle/>
          <a:p>
            <a:pPr algn="ctr"/>
            <a:r>
              <a:rPr lang="en-US" sz="1300" b="1" dirty="0">
                <a:solidFill>
                  <a:srgbClr val="12101A"/>
                </a:solidFill>
              </a:rPr>
              <a:t>Cold user</a:t>
            </a:r>
          </a:p>
          <a:p>
            <a:pPr algn="ctr"/>
            <a:r>
              <a:rPr lang="en-US" sz="1000" i="1" dirty="0">
                <a:solidFill>
                  <a:srgbClr val="6E6A7C"/>
                </a:solidFill>
              </a:rPr>
              <a:t>source history only</a:t>
            </a:r>
          </a:p>
        </p:txBody>
      </p:sp>
      <p:sp>
        <p:nvSpPr>
          <p:cNvPr id="602" name="a602"/>
          <p:cNvSpPr/>
          <p:nvPr/>
        </p:nvSpPr>
        <p:spPr>
          <a:xfrm>
            <a:off x="2413000" y="2527300"/>
            <a:ext cx="254000" cy="3302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rgbClr val="6E6A7C"/>
                </a:solidFill>
              </a:rPr>
              <a:t>→</a:t>
            </a:r>
          </a:p>
        </p:txBody>
      </p:sp>
      <p:sp>
        <p:nvSpPr>
          <p:cNvPr id="603" name="b603"/>
          <p:cNvSpPr/>
          <p:nvPr/>
        </p:nvSpPr>
        <p:spPr>
          <a:xfrm>
            <a:off x="2692400" y="2235200"/>
            <a:ext cx="162560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482">
            <a:solidFill>
              <a:srgbClr val="6C3BFF"/>
            </a:solidFill>
          </a:ln>
        </p:spPr>
        <p:txBody>
          <a:bodyPr lIns="76200" tIns="25400" rIns="76200" bIns="25400" rtlCol="0" anchor="ctr"/>
          <a:lstStyle/>
          <a:p>
            <a:pPr algn="ctr"/>
            <a:r>
              <a:rPr lang="en-US" sz="1300" b="1" dirty="0">
                <a:solidFill>
                  <a:srgbClr val="6C3BFF"/>
                </a:solidFill>
                <a:latin typeface="Consolas"/>
              </a:rPr>
              <a:t>U_src</a:t>
            </a:r>
          </a:p>
          <a:p>
            <a:pPr algn="ctr"/>
            <a:r>
              <a:rPr lang="en-US" sz="1000" i="1" dirty="0">
                <a:solidFill>
                  <a:srgbClr val="6E6A7C"/>
                </a:solidFill>
              </a:rPr>
              <a:t>source vector</a:t>
            </a:r>
          </a:p>
        </p:txBody>
      </p:sp>
      <p:sp>
        <p:nvSpPr>
          <p:cNvPr id="604" name="a604"/>
          <p:cNvSpPr/>
          <p:nvPr/>
        </p:nvSpPr>
        <p:spPr>
          <a:xfrm>
            <a:off x="4343400" y="2527300"/>
            <a:ext cx="254000" cy="3302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rgbClr val="6E6A7C"/>
                </a:solidFill>
              </a:rPr>
              <a:t>→</a:t>
            </a:r>
          </a:p>
        </p:txBody>
      </p:sp>
      <p:sp>
        <p:nvSpPr>
          <p:cNvPr id="605" name="b605"/>
          <p:cNvSpPr/>
          <p:nvPr/>
        </p:nvSpPr>
        <p:spPr>
          <a:xfrm>
            <a:off x="4622800" y="2235200"/>
            <a:ext cx="1625600" cy="914400"/>
          </a:xfrm>
          <a:prstGeom prst="roundRect">
            <a:avLst>
              <a:gd name="adj" fmla="val 16000"/>
            </a:avLst>
          </a:prstGeom>
          <a:solidFill>
            <a:srgbClr val="6C3BFF"/>
          </a:solidFill>
          <a:ln>
            <a:noFill/>
          </a:ln>
        </p:spPr>
        <p:txBody>
          <a:bodyPr lIns="76200" tIns="25400" rIns="76200" bIns="25400" rtlCol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  <a:latin typeface="Consolas"/>
              </a:rPr>
              <a:t>f</a:t>
            </a:r>
          </a:p>
          <a:p>
            <a:pPr algn="ctr"/>
            <a:r>
              <a:rPr lang="en-US" sz="1000" i="1" dirty="0">
                <a:solidFill>
                  <a:srgbClr val="E5DEFF"/>
                </a:solidFill>
              </a:rPr>
              <a:t>the linear map</a:t>
            </a:r>
          </a:p>
        </p:txBody>
      </p:sp>
      <p:sp>
        <p:nvSpPr>
          <p:cNvPr id="606" name="a606"/>
          <p:cNvSpPr/>
          <p:nvPr/>
        </p:nvSpPr>
        <p:spPr>
          <a:xfrm>
            <a:off x="6273800" y="2527300"/>
            <a:ext cx="254000" cy="3302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rgbClr val="6E6A7C"/>
                </a:solidFill>
              </a:rPr>
              <a:t>→</a:t>
            </a:r>
          </a:p>
        </p:txBody>
      </p:sp>
      <p:sp>
        <p:nvSpPr>
          <p:cNvPr id="607" name="b607"/>
          <p:cNvSpPr/>
          <p:nvPr/>
        </p:nvSpPr>
        <p:spPr>
          <a:xfrm>
            <a:off x="6553200" y="2235200"/>
            <a:ext cx="162560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482">
            <a:solidFill>
              <a:srgbClr val="00C2A8"/>
            </a:solidFill>
          </a:ln>
        </p:spPr>
        <p:txBody>
          <a:bodyPr lIns="76200" tIns="25400" rIns="76200" bIns="25400" rtlCol="0" anchor="ctr"/>
          <a:lstStyle/>
          <a:p>
            <a:pPr algn="ctr"/>
            <a:r>
              <a:rPr lang="en-US" sz="1500" b="1" dirty="0">
                <a:solidFill>
                  <a:srgbClr val="00C2A8"/>
                </a:solidFill>
                <a:latin typeface="Consolas"/>
              </a:rPr>
              <a:t>û_t</a:t>
            </a:r>
          </a:p>
          <a:p>
            <a:pPr algn="ctr"/>
            <a:r>
              <a:rPr lang="en-US" sz="1000" i="1" dirty="0">
                <a:solidFill>
                  <a:srgbClr val="6E6A7C"/>
                </a:solidFill>
              </a:rPr>
              <a:t>predicted taste</a:t>
            </a:r>
          </a:p>
        </p:txBody>
      </p:sp>
      <p:sp>
        <p:nvSpPr>
          <p:cNvPr id="608" name="a608"/>
          <p:cNvSpPr/>
          <p:nvPr/>
        </p:nvSpPr>
        <p:spPr>
          <a:xfrm>
            <a:off x="8204200" y="2527300"/>
            <a:ext cx="254000" cy="3302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rgbClr val="6E6A7C"/>
                </a:solidFill>
              </a:rPr>
              <a:t>→</a:t>
            </a:r>
          </a:p>
        </p:txBody>
      </p:sp>
      <p:sp>
        <p:nvSpPr>
          <p:cNvPr id="609" name="b609"/>
          <p:cNvSpPr/>
          <p:nvPr/>
        </p:nvSpPr>
        <p:spPr>
          <a:xfrm>
            <a:off x="8483600" y="2235200"/>
            <a:ext cx="162560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6C3BFF"/>
            </a:solidFill>
          </a:ln>
        </p:spPr>
        <p:txBody>
          <a:bodyPr lIns="76200" tIns="25400" rIns="76200" bIns="25400" rtlCol="0" anchor="ctr"/>
          <a:lstStyle/>
          <a:p>
            <a:pPr algn="ctr"/>
            <a:r>
              <a:rPr lang="en-US" sz="1250" b="1" dirty="0">
                <a:solidFill>
                  <a:srgbClr val="12101A"/>
                </a:solidFill>
              </a:rPr>
              <a:t>Ranked items</a:t>
            </a:r>
          </a:p>
          <a:p>
            <a:pPr algn="ctr"/>
            <a:r>
              <a:rPr lang="en-US" sz="1000" i="1" dirty="0">
                <a:solidFill>
                  <a:srgbClr val="6E6A7C"/>
                </a:solidFill>
              </a:rPr>
              <a:t>top of target list</a:t>
            </a:r>
          </a:p>
        </p:txBody>
      </p:sp>
      <p:sp>
        <p:nvSpPr>
          <p:cNvPr id="610" name="t610"/>
          <p:cNvSpPr/>
          <p:nvPr/>
        </p:nvSpPr>
        <p:spPr>
          <a:xfrm>
            <a:off x="4622800" y="3276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100" i="1" dirty="0">
                <a:solidFill>
                  <a:srgbClr val="6E6A7C"/>
                </a:solidFill>
              </a:rPr>
              <a:t>score = û_t · V_tgt   (dot product vs. every target item)</a:t>
            </a:r>
          </a:p>
        </p:txBody>
      </p:sp>
      <p:sp>
        <p:nvSpPr>
          <p:cNvPr id="611" name="div"/>
          <p:cNvSpPr/>
          <p:nvPr/>
        </p:nvSpPr>
        <p:spPr>
          <a:xfrm>
            <a:off x="762000" y="3835400"/>
            <a:ext cx="10668000" cy="19050"/>
          </a:xfrm>
          <a:prstGeom prst="rect">
            <a:avLst/>
          </a:prstGeom>
          <a:solidFill>
            <a:srgbClr val="DAD6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2" name="t612"/>
          <p:cNvSpPr/>
          <p:nvPr/>
        </p:nvSpPr>
        <p:spPr>
          <a:xfrm>
            <a:off x="762000" y="4013200"/>
            <a:ext cx="6858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250" b="1" dirty="0">
                <a:solidFill>
                  <a:srgbClr val="00C2A8"/>
                </a:solidFill>
              </a:rPr>
              <a:t>EVALUATION  ·  ON THE 20% COLD-EVAL COHORT</a:t>
            </a:r>
          </a:p>
        </p:txBody>
      </p:sp>
      <p:sp>
        <p:nvSpPr>
          <p:cNvPr id="613" name="b613"/>
          <p:cNvSpPr/>
          <p:nvPr/>
        </p:nvSpPr>
        <p:spPr>
          <a:xfrm>
            <a:off x="762000" y="4394200"/>
            <a:ext cx="3175000" cy="1854200"/>
          </a:xfrm>
          <a:prstGeom prst="roundRect">
            <a:avLst>
              <a:gd name="adj" fmla="val 10000"/>
            </a:avLst>
          </a:prstGeom>
          <a:solidFill>
            <a:srgbClr val="EDEAF7"/>
          </a:solidFill>
          <a:ln>
            <a:noFill/>
          </a:ln>
        </p:spPr>
        <p:txBody>
          <a:bodyPr lIns="76200" tIns="25400" rIns="76200" bIns="25400" rtlCol="0" anchor="ctr"/>
          <a:lstStyle/>
          <a:p>
            <a:endParaRPr lang="en-US"/>
          </a:p>
        </p:txBody>
      </p:sp>
      <p:sp>
        <p:nvSpPr>
          <p:cNvPr id="614" name="t614"/>
          <p:cNvSpPr/>
          <p:nvPr/>
        </p:nvSpPr>
        <p:spPr>
          <a:xfrm>
            <a:off x="990600" y="4572000"/>
            <a:ext cx="27178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300" b="1" dirty="0">
                <a:solidFill>
                  <a:srgbClr val="12101A"/>
                </a:solidFill>
              </a:rPr>
              <a:t>Leave-one-out ranking</a:t>
            </a:r>
          </a:p>
        </p:txBody>
      </p:sp>
      <p:sp>
        <p:nvSpPr>
          <p:cNvPr id="615" name="t615"/>
          <p:cNvSpPr/>
          <p:nvPr/>
        </p:nvSpPr>
        <p:spPr>
          <a:xfrm>
            <a:off x="990600" y="4902200"/>
            <a:ext cx="27178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150" dirty="0">
                <a:solidFill>
                  <a:srgbClr val="2A2540"/>
                </a:solidFill>
              </a:rPr>
              <a:t>Per user: 1 held-out target positive (latest by time) + 100 sampled unseen negatives = 101 candidates, ranked together — the positive's rank gives the score.</a:t>
            </a:r>
          </a:p>
        </p:txBody>
      </p:sp>
      <p:sp>
        <p:nvSpPr>
          <p:cNvPr id="616" name="b616"/>
          <p:cNvSpPr/>
          <p:nvPr/>
        </p:nvSpPr>
        <p:spPr>
          <a:xfrm>
            <a:off x="4191000" y="4394200"/>
            <a:ext cx="3429000" cy="1854200"/>
          </a:xfrm>
          <a:prstGeom prst="roundRect">
            <a:avLst>
              <a:gd name="adj" fmla="val 10000"/>
            </a:avLst>
          </a:prstGeom>
          <a:solidFill>
            <a:srgbClr val="EDEAF7"/>
          </a:solidFill>
          <a:ln>
            <a:noFill/>
          </a:ln>
        </p:spPr>
        <p:txBody>
          <a:bodyPr lIns="76200" tIns="25400" rIns="76200" bIns="25400" rtlCol="0" anchor="ctr"/>
          <a:lstStyle/>
          <a:p>
            <a:endParaRPr lang="en-US"/>
          </a:p>
        </p:txBody>
      </p:sp>
      <p:sp>
        <p:nvSpPr>
          <p:cNvPr id="617" name="t617"/>
          <p:cNvSpPr/>
          <p:nvPr/>
        </p:nvSpPr>
        <p:spPr>
          <a:xfrm>
            <a:off x="4419600" y="45720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300" b="1" dirty="0">
                <a:solidFill>
                  <a:srgbClr val="12101A"/>
                </a:solidFill>
              </a:rPr>
              <a:t>Against 4 baselines</a:t>
            </a:r>
          </a:p>
        </p:txBody>
      </p:sp>
      <p:sp>
        <p:nvSpPr>
          <p:cNvPr id="618" name="t618"/>
          <p:cNvSpPr/>
          <p:nvPr/>
        </p:nvSpPr>
        <p:spPr>
          <a:xfrm>
            <a:off x="4419600" y="4927600"/>
            <a:ext cx="1651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150" b="1" dirty="0">
                <a:solidFill>
                  <a:srgbClr val="6C3BFF"/>
                </a:solidFill>
              </a:rPr>
              <a:t>target-MF</a:t>
            </a:r>
          </a:p>
        </p:txBody>
      </p:sp>
      <p:sp>
        <p:nvSpPr>
          <p:cNvPr id="619" name="t619"/>
          <p:cNvSpPr/>
          <p:nvPr/>
        </p:nvSpPr>
        <p:spPr>
          <a:xfrm>
            <a:off x="5867400" y="4927600"/>
            <a:ext cx="15748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000" i="1" dirty="0">
                <a:solidFill>
                  <a:srgbClr val="6E6A7C"/>
                </a:solidFill>
              </a:rPr>
              <a:t>single-vertical prior</a:t>
            </a:r>
          </a:p>
        </p:txBody>
      </p:sp>
      <p:sp>
        <p:nvSpPr>
          <p:cNvPr id="620" name="t620"/>
          <p:cNvSpPr/>
          <p:nvPr/>
        </p:nvSpPr>
        <p:spPr>
          <a:xfrm>
            <a:off x="4419600" y="5245100"/>
            <a:ext cx="1651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150" b="1" dirty="0">
                <a:solidFill>
                  <a:srgbClr val="6C3BFF"/>
                </a:solidFill>
              </a:rPr>
              <a:t>content</a:t>
            </a:r>
          </a:p>
        </p:txBody>
      </p:sp>
      <p:sp>
        <p:nvSpPr>
          <p:cNvPr id="621" name="t621"/>
          <p:cNvSpPr/>
          <p:nvPr/>
        </p:nvSpPr>
        <p:spPr>
          <a:xfrm>
            <a:off x="5867400" y="5245100"/>
            <a:ext cx="15748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000" i="1" dirty="0">
                <a:solidFill>
                  <a:srgbClr val="6E6A7C"/>
                </a:solidFill>
              </a:rPr>
              <a:t>training-free text cosine</a:t>
            </a:r>
          </a:p>
        </p:txBody>
      </p:sp>
      <p:sp>
        <p:nvSpPr>
          <p:cNvPr id="622" name="t622"/>
          <p:cNvSpPr/>
          <p:nvPr/>
        </p:nvSpPr>
        <p:spPr>
          <a:xfrm>
            <a:off x="4419600" y="5562600"/>
            <a:ext cx="1651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150" b="1" dirty="0">
                <a:solidFill>
                  <a:srgbClr val="6C3BFF"/>
                </a:solidFill>
              </a:rPr>
              <a:t>MostPop</a:t>
            </a:r>
          </a:p>
        </p:txBody>
      </p:sp>
      <p:sp>
        <p:nvSpPr>
          <p:cNvPr id="623" name="t623"/>
          <p:cNvSpPr/>
          <p:nvPr/>
        </p:nvSpPr>
        <p:spPr>
          <a:xfrm>
            <a:off x="5867400" y="5562600"/>
            <a:ext cx="15748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000" i="1" dirty="0">
                <a:solidFill>
                  <a:srgbClr val="6E6A7C"/>
                </a:solidFill>
              </a:rPr>
              <a:t>deployed fallback</a:t>
            </a:r>
          </a:p>
        </p:txBody>
      </p:sp>
      <p:sp>
        <p:nvSpPr>
          <p:cNvPr id="624" name="t624"/>
          <p:cNvSpPr/>
          <p:nvPr/>
        </p:nvSpPr>
        <p:spPr>
          <a:xfrm>
            <a:off x="4419600" y="5880100"/>
            <a:ext cx="1651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150" b="1" dirty="0">
                <a:solidFill>
                  <a:srgbClr val="6C3BFF"/>
                </a:solidFill>
              </a:rPr>
              <a:t>Random</a:t>
            </a:r>
          </a:p>
        </p:txBody>
      </p:sp>
      <p:sp>
        <p:nvSpPr>
          <p:cNvPr id="625" name="t625"/>
          <p:cNvSpPr/>
          <p:nvPr/>
        </p:nvSpPr>
        <p:spPr>
          <a:xfrm>
            <a:off x="5867400" y="5880100"/>
            <a:ext cx="15748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000" i="1" dirty="0">
                <a:solidFill>
                  <a:srgbClr val="6E6A7C"/>
                </a:solidFill>
              </a:rPr>
              <a:t>the floor</a:t>
            </a:r>
          </a:p>
        </p:txBody>
      </p:sp>
      <p:sp>
        <p:nvSpPr>
          <p:cNvPr id="626" name="b626"/>
          <p:cNvSpPr/>
          <p:nvPr/>
        </p:nvSpPr>
        <p:spPr>
          <a:xfrm>
            <a:off x="7874000" y="4394200"/>
            <a:ext cx="3556000" cy="1854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C3BFF"/>
            </a:solidFill>
          </a:ln>
        </p:spPr>
        <p:txBody>
          <a:bodyPr lIns="76200" tIns="25400" rIns="76200" bIns="25400" rtlCol="0" anchor="ctr"/>
          <a:lstStyle/>
          <a:p>
            <a:endParaRPr lang="en-US"/>
          </a:p>
        </p:txBody>
      </p:sp>
      <p:sp>
        <p:nvSpPr>
          <p:cNvPr id="627" name="t627"/>
          <p:cNvSpPr/>
          <p:nvPr/>
        </p:nvSpPr>
        <p:spPr>
          <a:xfrm>
            <a:off x="8128000" y="4572000"/>
            <a:ext cx="30988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200" b="1" dirty="0">
                <a:solidFill>
                  <a:srgbClr val="12101A"/>
                </a:solidFill>
              </a:rPr>
              <a:t>Metrics · mean over 3 seeds</a:t>
            </a:r>
          </a:p>
        </p:txBody>
      </p:sp>
      <p:sp>
        <p:nvSpPr>
          <p:cNvPr id="628" name="t628"/>
          <p:cNvSpPr/>
          <p:nvPr/>
        </p:nvSpPr>
        <p:spPr>
          <a:xfrm>
            <a:off x="8128000" y="4927600"/>
            <a:ext cx="30988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350" b="1" dirty="0">
                <a:solidFill>
                  <a:srgbClr val="067A68"/>
                </a:solidFill>
              </a:rPr>
              <a:t>Recall@10</a:t>
            </a:r>
          </a:p>
        </p:txBody>
      </p:sp>
      <p:sp>
        <p:nvSpPr>
          <p:cNvPr id="629" name="t629"/>
          <p:cNvSpPr/>
          <p:nvPr/>
        </p:nvSpPr>
        <p:spPr>
          <a:xfrm>
            <a:off x="8128000" y="5257800"/>
            <a:ext cx="30988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350" b="1" dirty="0">
                <a:solidFill>
                  <a:srgbClr val="067A68"/>
                </a:solidFill>
              </a:rPr>
              <a:t>NDCG@10</a:t>
            </a:r>
          </a:p>
        </p:txBody>
      </p:sp>
      <p:sp>
        <p:nvSpPr>
          <p:cNvPr id="630" name="t630"/>
          <p:cNvSpPr/>
          <p:nvPr/>
        </p:nvSpPr>
        <p:spPr>
          <a:xfrm>
            <a:off x="8128000" y="5588000"/>
            <a:ext cx="30988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350" b="1" dirty="0">
                <a:solidFill>
                  <a:srgbClr val="067A68"/>
                </a:solidFill>
              </a:rPr>
              <a:t>HR@10</a:t>
            </a:r>
          </a:p>
        </p:txBody>
      </p:sp>
      <p:sp>
        <p:nvSpPr>
          <p:cNvPr id="631" name="t631"/>
          <p:cNvSpPr/>
          <p:nvPr/>
        </p:nvSpPr>
        <p:spPr>
          <a:xfrm>
            <a:off x="8128000" y="5918200"/>
            <a:ext cx="3098800" cy="177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000" i="1" dirty="0">
                <a:solidFill>
                  <a:srgbClr val="6E6A7C"/>
                </a:solidFill>
              </a:rPr>
              <a:t>reported mean ± std</a:t>
            </a:r>
          </a:p>
        </p:txBody>
      </p:sp>
    </p:spTree>
    <p:extLst>
      <p:ext uri="{BB962C8B-B14F-4D97-AF65-F5344CB8AC3E}">
        <p14:creationId xmlns:p14="http://schemas.microsoft.com/office/powerpoint/2010/main" val="131938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16FC-00FC-4B83-9020-408CA8312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000" b="1" dirty="0">
                <a:solidFill>
                  <a:srgbClr val="00C2A8"/>
                </a:solidFill>
              </a:rPr>
              <a:t>→ TO THE NOTEBOOK</a:t>
            </a:r>
          </a:p>
          <a:p>
            <a:pPr>
              <a:buNone/>
            </a:pPr>
            <a:r>
              <a:rPr lang="en-US" dirty="0"/>
              <a:t>Baselines, EMCDR &amp;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6D725-CAAE-47E9-6093-C00E4D439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1133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861AF-22E0-DD96-16A1-81362CC1A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en-US" sz="2000" b="1" dirty="0">
                <a:solidFill>
                  <a:srgbClr val="6C3BFF"/>
                </a:solidFill>
              </a:rPr>
              <a:t>THE FINISHED PRODUCT</a:t>
            </a:r>
          </a:p>
          <a:p>
            <a:pPr>
              <a:buNone/>
            </a:pPr>
            <a:r>
              <a:rPr lang="en-US" dirty="0"/>
              <a:t>One system that routes each pair to its strongest signal</a:t>
            </a:r>
          </a:p>
        </p:txBody>
      </p:sp>
      <p:sp>
        <p:nvSpPr>
          <p:cNvPr id="600" name="intro"/>
          <p:cNvSpPr/>
          <p:nvPr/>
        </p:nvSpPr>
        <p:spPr>
          <a:xfrm>
            <a:off x="762000" y="18796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400" b="0" i="0" dirty="0">
                <a:solidFill>
                  <a:srgbClr val="2A2540"/>
                </a:solidFill>
              </a:rPr>
              <a:t>No single model wins everywhere — so we route each pair to its strongest signal.</a:t>
            </a:r>
          </a:p>
        </p:txBody>
      </p:sp>
      <p:sp>
        <p:nvSpPr>
          <p:cNvPr id="602" name="node"/>
          <p:cNvSpPr/>
          <p:nvPr/>
        </p:nvSpPr>
        <p:spPr>
          <a:xfrm>
            <a:off x="4191000" y="2489200"/>
            <a:ext cx="3810000" cy="711200"/>
          </a:xfrm>
          <a:prstGeom prst="roundRect">
            <a:avLst>
              <a:gd name="adj" fmla="val 14000"/>
            </a:avLst>
          </a:prstGeom>
          <a:solidFill>
            <a:srgbClr val="6C3B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Is the transfer signal strong enough to trust?</a:t>
            </a:r>
          </a:p>
        </p:txBody>
      </p:sp>
      <p:sp>
        <p:nvSpPr>
          <p:cNvPr id="630" name="stem"/>
          <p:cNvSpPr/>
          <p:nvPr/>
        </p:nvSpPr>
        <p:spPr>
          <a:xfrm>
            <a:off x="6070600" y="3200400"/>
            <a:ext cx="50800" cy="431800"/>
          </a:xfrm>
          <a:prstGeom prst="rect">
            <a:avLst/>
          </a:prstGeom>
          <a:solidFill>
            <a:srgbClr val="6C3BFF"/>
          </a:solidFill>
          <a:ln>
            <a:noFill/>
          </a:ln>
        </p:spPr>
        <p:txBody>
          <a:bodyPr anchor="t"/>
          <a:lstStyle/>
          <a:p>
            <a:endParaRPr lang="en-US"/>
          </a:p>
        </p:txBody>
      </p:sp>
      <p:sp>
        <p:nvSpPr>
          <p:cNvPr id="631" name="hbar"/>
          <p:cNvSpPr/>
          <p:nvPr/>
        </p:nvSpPr>
        <p:spPr>
          <a:xfrm>
            <a:off x="3175000" y="3632200"/>
            <a:ext cx="5867400" cy="50800"/>
          </a:xfrm>
          <a:prstGeom prst="rect">
            <a:avLst/>
          </a:prstGeom>
          <a:solidFill>
            <a:srgbClr val="6C3BFF"/>
          </a:solidFill>
          <a:ln>
            <a:noFill/>
          </a:ln>
        </p:spPr>
        <p:txBody>
          <a:bodyPr anchor="t"/>
          <a:lstStyle/>
          <a:p>
            <a:endParaRPr lang="en-US"/>
          </a:p>
        </p:txBody>
      </p:sp>
      <p:sp>
        <p:nvSpPr>
          <p:cNvPr id="632" name="dropL"/>
          <p:cNvSpPr/>
          <p:nvPr/>
        </p:nvSpPr>
        <p:spPr>
          <a:xfrm>
            <a:off x="3149600" y="3632200"/>
            <a:ext cx="50800" cy="558800"/>
          </a:xfrm>
          <a:prstGeom prst="rect">
            <a:avLst/>
          </a:prstGeom>
          <a:solidFill>
            <a:srgbClr val="6C3BFF"/>
          </a:solidFill>
          <a:ln>
            <a:noFill/>
          </a:ln>
        </p:spPr>
        <p:txBody>
          <a:bodyPr anchor="t"/>
          <a:lstStyle/>
          <a:p>
            <a:endParaRPr lang="en-US"/>
          </a:p>
        </p:txBody>
      </p:sp>
      <p:sp>
        <p:nvSpPr>
          <p:cNvPr id="633" name="dropR"/>
          <p:cNvSpPr/>
          <p:nvPr/>
        </p:nvSpPr>
        <p:spPr>
          <a:xfrm>
            <a:off x="8991600" y="3632200"/>
            <a:ext cx="50800" cy="5588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="t"/>
          <a:lstStyle/>
          <a:p>
            <a:endParaRPr lang="en-US"/>
          </a:p>
        </p:txBody>
      </p:sp>
      <p:sp>
        <p:nvSpPr>
          <p:cNvPr id="604" name="labL"/>
          <p:cNvSpPr/>
          <p:nvPr/>
        </p:nvSpPr>
        <p:spPr>
          <a:xfrm>
            <a:off x="1143000" y="37592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rgbClr val="6C3BFF"/>
                </a:solidFill>
              </a:rPr>
              <a:t>YES · RICH pairs</a:t>
            </a:r>
            <a:r>
              <a:rPr lang="en-US" sz="1150" b="0" i="0" dirty="0">
                <a:solidFill>
                  <a:srgbClr val="6E6A7C"/>
                </a:solidFill>
              </a:rPr>
              <a:t>                 ≥20k overlap (5 pairs)</a:t>
            </a:r>
          </a:p>
        </p:txBody>
      </p:sp>
      <p:sp>
        <p:nvSpPr>
          <p:cNvPr id="605" name="labR"/>
          <p:cNvSpPr/>
          <p:nvPr/>
        </p:nvSpPr>
        <p:spPr>
          <a:xfrm>
            <a:off x="6985000" y="37592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rgbClr val="00C2A8"/>
                </a:solidFill>
              </a:rPr>
              <a:t>NO · SPARSE target</a:t>
            </a:r>
            <a:r>
              <a:rPr lang="en-US" sz="1150" b="0" i="0" dirty="0">
                <a:solidFill>
                  <a:srgbClr val="6E6A7C"/>
                </a:solidFill>
              </a:rPr>
              <a:t>              Video-Games (3 pairs)</a:t>
            </a:r>
          </a:p>
        </p:txBody>
      </p:sp>
      <p:sp>
        <p:nvSpPr>
          <p:cNvPr id="608" name="cardL"/>
          <p:cNvSpPr/>
          <p:nvPr/>
        </p:nvSpPr>
        <p:spPr>
          <a:xfrm>
            <a:off x="1143000" y="4241800"/>
            <a:ext cx="4064000" cy="2184400"/>
          </a:xfrm>
          <a:prstGeom prst="roundRect">
            <a:avLst>
              <a:gd name="adj" fmla="val 6000"/>
            </a:avLst>
          </a:prstGeom>
          <a:solidFill>
            <a:srgbClr val="EDEAF7"/>
          </a:solidFill>
          <a:ln w="19050">
            <a:solidFill>
              <a:srgbClr val="6C3BFF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609" name="cardLbar"/>
          <p:cNvSpPr/>
          <p:nvPr/>
        </p:nvSpPr>
        <p:spPr>
          <a:xfrm>
            <a:off x="1143000" y="4241800"/>
            <a:ext cx="76200" cy="2184400"/>
          </a:xfrm>
          <a:prstGeom prst="rect">
            <a:avLst/>
          </a:prstGeom>
          <a:solidFill>
            <a:srgbClr val="6C3BFF"/>
          </a:solidFill>
          <a:ln>
            <a:noFill/>
          </a:ln>
        </p:spPr>
        <p:txBody>
          <a:bodyPr anchor="t"/>
          <a:lstStyle/>
          <a:p>
            <a:endParaRPr lang="en-US"/>
          </a:p>
        </p:txBody>
      </p:sp>
      <p:sp>
        <p:nvSpPr>
          <p:cNvPr id="610" name="hL"/>
          <p:cNvSpPr/>
          <p:nvPr/>
        </p:nvSpPr>
        <p:spPr>
          <a:xfrm>
            <a:off x="1422400" y="44196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600" b="1" i="0" dirty="0">
                <a:solidFill>
                  <a:srgbClr val="12101A"/>
                </a:solidFill>
              </a:rPr>
              <a:t>Serve EMCDR directly</a:t>
            </a:r>
          </a:p>
        </p:txBody>
      </p:sp>
      <p:sp>
        <p:nvSpPr>
          <p:cNvPr id="611" name="bL"/>
          <p:cNvSpPr/>
          <p:nvPr/>
        </p:nvSpPr>
        <p:spPr>
          <a:xfrm>
            <a:off x="1422400" y="4876800"/>
            <a:ext cx="3556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300" b="0" i="0" dirty="0">
                <a:solidFill>
                  <a:srgbClr val="2A2540"/>
                </a:solidFill>
              </a:rPr>
              <a:t>Enough overlap to supervise the mapping — EMCDR is the outright best model and beats every baseline. Best on 5 of 8 pairs.</a:t>
            </a:r>
          </a:p>
        </p:txBody>
      </p:sp>
      <p:sp>
        <p:nvSpPr>
          <p:cNvPr id="612" name="cardR"/>
          <p:cNvSpPr/>
          <p:nvPr/>
        </p:nvSpPr>
        <p:spPr>
          <a:xfrm>
            <a:off x="6985000" y="4241800"/>
            <a:ext cx="4064000" cy="2184400"/>
          </a:xfrm>
          <a:prstGeom prst="roundRect">
            <a:avLst>
              <a:gd name="adj" fmla="val 6000"/>
            </a:avLst>
          </a:prstGeom>
          <a:solidFill>
            <a:srgbClr val="EDEAF7"/>
          </a:solidFill>
          <a:ln w="19050">
            <a:solidFill>
              <a:srgbClr val="00C2A8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613" name="cardRbar"/>
          <p:cNvSpPr/>
          <p:nvPr/>
        </p:nvSpPr>
        <p:spPr>
          <a:xfrm>
            <a:off x="6985000" y="4241800"/>
            <a:ext cx="76200" cy="21844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="t"/>
          <a:lstStyle/>
          <a:p>
            <a:endParaRPr lang="en-US"/>
          </a:p>
        </p:txBody>
      </p:sp>
      <p:sp>
        <p:nvSpPr>
          <p:cNvPr id="614" name="hR"/>
          <p:cNvSpPr/>
          <p:nvPr/>
        </p:nvSpPr>
        <p:spPr>
          <a:xfrm>
            <a:off x="7264400" y="44196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600" b="1" i="0" dirty="0">
                <a:solidFill>
                  <a:srgbClr val="12101A"/>
                </a:solidFill>
              </a:rPr>
              <a:t>Serve content transfer</a:t>
            </a:r>
          </a:p>
        </p:txBody>
      </p:sp>
      <p:sp>
        <p:nvSpPr>
          <p:cNvPr id="615" name="bR"/>
          <p:cNvSpPr/>
          <p:nvPr/>
        </p:nvSpPr>
        <p:spPr>
          <a:xfrm>
            <a:off x="7264400" y="4876800"/>
            <a:ext cx="3556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300" b="0" i="0" dirty="0">
                <a:solidFill>
                  <a:srgbClr val="2A2540"/>
                </a:solidFill>
              </a:rPr>
              <a:t>Too little overlap and too few repeat purchases to learn item IDs — shared MiniLM text is the only reliable bridge. Best sparse result (0.36 on Toys→VG); still beats MostPop.</a:t>
            </a:r>
          </a:p>
        </p:txBody>
      </p:sp>
    </p:spTree>
    <p:extLst>
      <p:ext uri="{BB962C8B-B14F-4D97-AF65-F5344CB8AC3E}">
        <p14:creationId xmlns:p14="http://schemas.microsoft.com/office/powerpoint/2010/main" val="3892150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1A0C4-E8FA-5735-A41A-47F97B7749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sz="5400" b="1" dirty="0"/>
              <a:t>Thank you</a:t>
            </a:r>
          </a:p>
          <a:p>
            <a:pPr algn="l"/>
            <a:r>
              <a:rPr lang="en-US" sz="5400" b="1" dirty="0">
                <a:solidFill>
                  <a:schemeClr val="accent1"/>
                </a:solidFill>
              </a:rPr>
              <a:t>Questions?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DAA963-94B2-665F-FAF4-A96A544236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0160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1016652662]">
  <a:themeElements>
    <a:clrScheme name="Office">
      <a:dk1>
        <a:srgbClr val="12101A"/>
      </a:dk1>
      <a:lt1>
        <a:srgbClr val="FBFAFF"/>
      </a:lt1>
      <a:dk2>
        <a:srgbClr val="2A2540"/>
      </a:dk2>
      <a:lt2>
        <a:srgbClr val="EDEAF7"/>
      </a:lt2>
      <a:accent1>
        <a:srgbClr val="6C3BFF"/>
      </a:accent1>
      <a:accent2>
        <a:srgbClr val="FF5C7A"/>
      </a:accent2>
      <a:accent3>
        <a:srgbClr val="00C2A8"/>
      </a:accent3>
      <a:accent4>
        <a:srgbClr val="FFB020"/>
      </a:accent4>
      <a:accent5>
        <a:srgbClr val="3B82F6"/>
      </a:accent5>
      <a:accent6>
        <a:srgbClr val="8B5CF6"/>
      </a:accent6>
      <a:hlink>
        <a:srgbClr val="467886"/>
      </a:hlink>
      <a:folHlink>
        <a:srgbClr val="96607D"/>
      </a:folHlink>
    </a:clrScheme>
    <a:fontScheme name="Office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8BD77FD-AD95-4CF9-A46C-FDA7D4148094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c8e1646b-35e8-4ef9-9044-fd55e164e161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DF1106D-6DF4-E24B-A8B8-F750B58C83D2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ff92b123-7019-453e-b1fe-a68d21cfdbe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1236</Words>
  <Application>Microsoft Macintosh PowerPoint</Application>
  <PresentationFormat>Widescreen</PresentationFormat>
  <Paragraphs>188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Consolas</vt:lpstr>
      <vt:lpstr>Inter</vt:lpstr>
      <vt:lpstr>Poppins</vt:lpstr>
      <vt:lpstr>Office Theme [1781016652662]</vt:lpstr>
      <vt:lpstr>Cross-Domain Recommendation</vt:lpstr>
      <vt:lpstr>The business problem &amp; our goal</vt:lpstr>
      <vt:lpstr>The technical approach</vt:lpstr>
      <vt:lpstr>01 Data prep &amp; EDA</vt:lpstr>
      <vt:lpstr>The data: Amazon Reviews 2023</vt:lpstr>
      <vt:lpstr>The five verticals at a glance</vt:lpstr>
      <vt:lpstr>Data quality → cleaning actions</vt:lpstr>
      <vt:lpstr>→ TO THE NOTEBOOK Full EDA</vt:lpstr>
      <vt:lpstr>02 Model &amp; Results</vt:lpstr>
      <vt:lpstr>Our solution: EMCDR shared latent space</vt:lpstr>
      <vt:lpstr>STAGE 1 A hybrid two-tower recommender, per vertical</vt:lpstr>
      <vt:lpstr>STAGE 2 One small linear map translates source taste into the target space</vt:lpstr>
      <vt:lpstr>STAGE 3 Cold-start inference, then how we measure it</vt:lpstr>
      <vt:lpstr>→ TO THE NOTEBOOK Baselines, EMCDR &amp; results</vt:lpstr>
      <vt:lpstr>THE FINISHED PRODUCT One system that routes each pair to its strongest signal</vt:lpstr>
      <vt:lpstr>Thank you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תמיר ספבק</dc:creator>
  <cp:lastModifiedBy>אורי סנואני</cp:lastModifiedBy>
  <cp:revision>6</cp:revision>
  <dcterms:created xsi:type="dcterms:W3CDTF">2026-06-08T13:14:20Z</dcterms:created>
  <dcterms:modified xsi:type="dcterms:W3CDTF">2026-06-09T16:09:23Z</dcterms:modified>
</cp:coreProperties>
</file>